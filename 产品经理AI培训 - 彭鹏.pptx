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69" r:id="rId3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94" autoAdjust="0"/>
  </p:normalViewPr>
  <p:slideViewPr>
    <p:cSldViewPr snapToGrid="0" showGuides="1">
      <p:cViewPr>
        <p:scale>
          <a:sx n="100" d="100"/>
          <a:sy n="100" d="100"/>
        </p:scale>
        <p:origin x="232" y="1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座的各位，是否也曾有过这样的经历：为了一份竞品报告熬夜加班，在Excel里反复粘贴；在评审会上，因为PRD的一个小漏洞被研发同事问得哑口无言；或者，在日复一日的琐碎工作中，渐渐迷失了产品经理的核心价值。这些困境，本质上是传统工作模式与日益复杂的业务需求之间的矛盾。而AI，正是解决这些矛盾的关键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如果说Prompt工程是“点石成金”的技巧，那么AI智能体（Skill）就是“造人”的艺术。你可以把它理解为一个“入职即巅峰”的专项负责人，更是你个人经验的“数字化分身”。你只需要通过四个简单的步骤——定义身份、喂入知识、赋予工具、编排流程，就能打造一个完全属于你的AI助手。它可以每天自动帮你抓取竞品动态，把你碎片化的想法自动扩充成万字PRD。这才是AI赋能的终极形态，让AI真正成为我们能力的延伸。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/>
          <p:nvPr/>
        </p:nvSpPr>
        <p:spPr>
          <a:xfrm>
            <a:off x="1016000" y="241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AI赋能产品经理</a:t>
            </a:r>
            <a:r>
              <a:rPr lang="en-US" sz="4000" b="1" dirty="0" err="1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：</a:t>
            </a:r>
            <a:r>
              <a:rPr lang="en-US" altLang="zh-CN" sz="4000" b="1" dirty="0" err="1">
                <a:solidFill>
                  <a:schemeClr val="tx1"/>
                </a:solidFill>
                <a:latin typeface="Noto Sans SC"/>
                <a:ea typeface="Noto Sans SC"/>
              </a:rPr>
              <a:t>Prompt</a:t>
            </a:r>
            <a:r>
              <a:rPr lang="en-US" altLang="zh-CN" sz="4000" b="1" dirty="0">
                <a:solidFill>
                  <a:schemeClr val="tx1"/>
                </a:solidFill>
                <a:latin typeface="Noto Sans SC"/>
                <a:ea typeface="Noto Sans SC"/>
              </a:rPr>
              <a:t> </a:t>
            </a:r>
            <a:r>
              <a:rPr lang="zh-CN" altLang="en-US" sz="4000" b="1" dirty="0">
                <a:solidFill>
                  <a:schemeClr val="tx1"/>
                </a:solidFill>
                <a:latin typeface="Noto Sans SC"/>
                <a:ea typeface="Noto Sans SC"/>
              </a:rPr>
              <a:t>和 </a:t>
            </a:r>
            <a:r>
              <a:rPr lang="en-US" altLang="zh-CN" sz="4000" b="1" dirty="0">
                <a:solidFill>
                  <a:schemeClr val="tx1"/>
                </a:solidFill>
                <a:latin typeface="Noto Sans SC"/>
                <a:ea typeface="Noto Sans SC"/>
              </a:rPr>
              <a:t>Skills</a:t>
            </a:r>
            <a:r>
              <a:rPr lang="zh-CN" altLang="en-US" sz="4000" b="1" dirty="0">
                <a:solidFill>
                  <a:schemeClr val="tx1"/>
                </a:solidFill>
                <a:latin typeface="Noto Sans SC"/>
                <a:ea typeface="Noto Sans SC"/>
              </a:rPr>
              <a:t>实战操作</a:t>
            </a:r>
            <a:endParaRPr lang="en-US" altLang="zh-CN" sz="4000" b="1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 rot="-34376">
            <a:off x="5662738" y="475092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6"/>
          <p:cNvSpPr/>
          <p:nvPr/>
        </p:nvSpPr>
        <p:spPr>
          <a:xfrm>
            <a:off x="1217706" y="501127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培训人</a:t>
            </a:r>
            <a:r>
              <a:rPr lang="en-US" altLang="zh-CN" sz="2000" b="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zh-CN" altLang="en-US" sz="2000" b="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彭鹏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09600" y="1016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</a:t>
            </a:r>
            <a:r>
              <a:rPr lang="zh-CN" altLang="en-US" sz="3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产品的四项核心工作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4" name="Connector 4"/>
          <p:cNvCxnSpPr/>
          <p:nvPr/>
        </p:nvCxnSpPr>
        <p:spPr>
          <a:xfrm rot="21596022">
            <a:off x="609604" y="1771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444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2159000"/>
            <a:ext cx="2544939" cy="3048000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96728" y="2946400"/>
            <a:ext cx="2170683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市场洞察与用户研究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96728" y="3759938"/>
            <a:ext cx="2170683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场景一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海量行业调研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场景二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用户原始反馈处理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场景三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: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用户画像构建</a:t>
            </a:r>
            <a:endParaRPr lang="en-US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79092" y="2159000"/>
            <a:ext cx="2544939" cy="3048000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566220" y="2946400"/>
            <a:ext cx="2170683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需求分析流程设计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566220" y="3759938"/>
            <a:ext cx="2170683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场景一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需求分析与拆解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场景二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业务流程与逻辑查漏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场景三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:</a:t>
            </a:r>
            <a:r>
              <a:rPr lang="zh-CN" altLang="zh-CN" dirty="0">
                <a:solidFill>
                  <a:schemeClr val="tx1"/>
                </a:solidFill>
                <a:latin typeface="Noto Sans SC"/>
                <a:ea typeface="Noto Sans SC"/>
              </a:rPr>
              <a:t>产品规划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48585" y="2159000"/>
            <a:ext cx="2544939" cy="3048000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35713" y="2946400"/>
            <a:ext cx="2170683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PRD</a:t>
            </a:r>
            <a:r>
              <a:rPr lang="zh-CN" altLang="en-US" sz="18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文档与原型设计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35713" y="3759938"/>
            <a:ext cx="2170683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场景一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PRD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文档编写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场景二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产品原型设计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9600" y="5715738"/>
            <a:ext cx="1097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传统工作模式已难以为继，AI</a:t>
            </a:r>
            <a:r>
              <a:rPr lang="en-US" sz="1400" b="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或将成为破局关键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" name="AutoShape 13"/>
          <p:cNvSpPr/>
          <p:nvPr/>
        </p:nvSpPr>
        <p:spPr>
          <a:xfrm>
            <a:off x="8918078" y="2159000"/>
            <a:ext cx="2544939" cy="3048000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  <a:alpha val="60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1" name="AutoShape 15"/>
          <p:cNvSpPr/>
          <p:nvPr/>
        </p:nvSpPr>
        <p:spPr>
          <a:xfrm>
            <a:off x="9105206" y="2946400"/>
            <a:ext cx="2170683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数据分析和项目汇报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" name="AutoShape 16"/>
          <p:cNvSpPr/>
          <p:nvPr/>
        </p:nvSpPr>
        <p:spPr>
          <a:xfrm>
            <a:off x="9105206" y="3759938"/>
            <a:ext cx="2170683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场景一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数据分析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场景二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项目汇报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13"/>
          <p:cNvSpPr/>
          <p:nvPr/>
        </p:nvSpPr>
        <p:spPr>
          <a:xfrm>
            <a:off x="6178761" y="1965158"/>
            <a:ext cx="5314431" cy="269774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 cap="flat" cmpd="sng">
            <a:solidFill>
              <a:srgbClr val="FF0000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13"/>
          <p:cNvSpPr/>
          <p:nvPr/>
        </p:nvSpPr>
        <p:spPr>
          <a:xfrm>
            <a:off x="639774" y="1965157"/>
            <a:ext cx="5314431" cy="2710511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 cap="flat" cmpd="sng">
            <a:solidFill>
              <a:schemeClr val="accent6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3"/>
          <p:cNvSpPr/>
          <p:nvPr/>
        </p:nvSpPr>
        <p:spPr>
          <a:xfrm>
            <a:off x="1105209" y="3543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赋能</a:t>
            </a:r>
            <a:r>
              <a:rPr lang="zh-CN" alt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具体场景</a:t>
            </a: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r>
              <a:rPr lang="zh-CN" alt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套</a:t>
            </a:r>
            <a:r>
              <a:rPr lang="en-US" altLang="zh-CN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 dirty="0">
              <a:solidFill>
                <a:schemeClr val="tx1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39774" y="1026163"/>
            <a:ext cx="10912452" cy="775192"/>
            <a:chOff x="639774" y="1497361"/>
            <a:chExt cx="10912452" cy="1483732"/>
          </a:xfrm>
        </p:grpSpPr>
        <p:sp>
          <p:nvSpPr>
            <p:cNvPr id="6" name="AutoShape 5"/>
            <p:cNvSpPr/>
            <p:nvPr/>
          </p:nvSpPr>
          <p:spPr>
            <a:xfrm>
              <a:off x="639774" y="1497361"/>
              <a:ext cx="2544939" cy="1483732"/>
            </a:xfrm>
            <a:prstGeom prst="roundRect">
              <a:avLst>
                <a:gd name="adj" fmla="val 3333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4B556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" name="AutoShape 7"/>
            <p:cNvSpPr/>
            <p:nvPr/>
          </p:nvSpPr>
          <p:spPr>
            <a:xfrm>
              <a:off x="856420" y="2069171"/>
              <a:ext cx="217068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800" b="1" dirty="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市场洞察与用户研究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8" name="AutoShape 9"/>
            <p:cNvSpPr/>
            <p:nvPr/>
          </p:nvSpPr>
          <p:spPr>
            <a:xfrm>
              <a:off x="3409266" y="1497361"/>
              <a:ext cx="2544939" cy="1483732"/>
            </a:xfrm>
            <a:prstGeom prst="roundRect">
              <a:avLst>
                <a:gd name="adj" fmla="val 3333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4B556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9" name="AutoShape 11"/>
            <p:cNvSpPr/>
            <p:nvPr/>
          </p:nvSpPr>
          <p:spPr>
            <a:xfrm>
              <a:off x="3625912" y="2069171"/>
              <a:ext cx="217068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800" b="1" dirty="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需求分析与流程设计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4" name="AutoShape 13"/>
            <p:cNvSpPr/>
            <p:nvPr/>
          </p:nvSpPr>
          <p:spPr>
            <a:xfrm>
              <a:off x="6178759" y="1497361"/>
              <a:ext cx="2544939" cy="1483732"/>
            </a:xfrm>
            <a:prstGeom prst="roundRect">
              <a:avLst>
                <a:gd name="adj" fmla="val 3333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4B556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5" name="AutoShape 15"/>
            <p:cNvSpPr/>
            <p:nvPr/>
          </p:nvSpPr>
          <p:spPr>
            <a:xfrm>
              <a:off x="6395405" y="2069171"/>
              <a:ext cx="217068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en-US" sz="1800" b="1" dirty="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PRD</a:t>
              </a:r>
              <a:r>
                <a:rPr lang="zh-CN" altLang="en-US" sz="1800" b="1" dirty="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文档与原型设计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7" name="AutoShape 13"/>
            <p:cNvSpPr/>
            <p:nvPr/>
          </p:nvSpPr>
          <p:spPr>
            <a:xfrm>
              <a:off x="9007287" y="1497361"/>
              <a:ext cx="2544939" cy="1483732"/>
            </a:xfrm>
            <a:prstGeom prst="roundRect">
              <a:avLst>
                <a:gd name="adj" fmla="val 3333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rgbClr val="4B556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28" name="AutoShape 15"/>
            <p:cNvSpPr/>
            <p:nvPr/>
          </p:nvSpPr>
          <p:spPr>
            <a:xfrm>
              <a:off x="9164898" y="2069171"/>
              <a:ext cx="2170683" cy="304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800" b="1" dirty="0">
                  <a:solidFill>
                    <a:schemeClr val="tx1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数据分析和项目汇报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AutoShape 12"/>
          <p:cNvSpPr/>
          <p:nvPr/>
        </p:nvSpPr>
        <p:spPr>
          <a:xfrm>
            <a:off x="752052" y="2131187"/>
            <a:ext cx="5314431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AI</a:t>
            </a:r>
            <a:r>
              <a:rPr lang="zh-CN" altLang="en-US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1" name="AutoShape 12"/>
          <p:cNvSpPr/>
          <p:nvPr/>
        </p:nvSpPr>
        <p:spPr>
          <a:xfrm>
            <a:off x="6395407" y="2077290"/>
            <a:ext cx="5015027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Skills </a:t>
            </a:r>
            <a:r>
              <a:rPr lang="zh-CN" altLang="en-US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技能</a:t>
            </a:r>
            <a:r>
              <a:rPr lang="en-US" altLang="zh-CN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8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02432" y="2440626"/>
            <a:ext cx="4564566" cy="2222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        Prompt AI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提示词工程（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Prompt Engineering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）是围绕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模型（大语言模型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LLM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、多模态模型等）的输入设计、优化、测试与落地的专业方法论和实践技术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.</a:t>
            </a:r>
            <a:endParaRPr lang="en-US" altLang="zh-CN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简单总结：提示词工程是连接人类需求与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能力的桥梁，在生成式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普及的当下，掌握基础的提示词设计技巧，已成为提升工作和生活效率的必备能力，而专业的提示词工程，则是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技术从 “通用能力” 走向 “行业落地” 的关键环节。</a:t>
            </a:r>
            <a:endParaRPr lang="zh-CN" altLang="en-US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53693" y="2545022"/>
            <a:ext cx="45645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       对于产品经理来说，你可以把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Skills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（技能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智能体） 理解为：一个“入职即巅峰”的专项负责人，更是你个人经验的“</a:t>
            </a:r>
            <a:r>
              <a:rPr lang="zh-CN" altLang="en-US" b="1" dirty="0">
                <a:solidFill>
                  <a:schemeClr val="tx1"/>
                </a:solidFill>
                <a:latin typeface="Noto Sans SC"/>
                <a:ea typeface="Noto Sans SC"/>
              </a:rPr>
              <a:t>数字化分身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”。</a:t>
            </a:r>
            <a:endParaRPr lang="zh-CN" altLang="en-US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        它不是对话框： 普通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像路人，你每次都要重教背景；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Skills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像资深组员，他刻盘了你的业务逻辑。</a:t>
            </a:r>
            <a:endParaRPr lang="zh-CN" altLang="en-US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        它是你的分身： 你把写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PRD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的“心法”、调研竞品的“眼光”、设计交互的“审美”打包成指令，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Skill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就成了另一个在云端 </a:t>
            </a:r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</a:rPr>
              <a:t>24 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</a:rPr>
              <a:t>小时为你工作的“你”。</a:t>
            </a:r>
            <a:endParaRPr lang="zh-CN" altLang="en-US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69096" y="4839470"/>
            <a:ext cx="53851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+mn-ea"/>
              </a:rPr>
              <a:t>建议工具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: 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b="1" dirty="0">
                <a:solidFill>
                  <a:schemeClr val="tx1"/>
                </a:solidFill>
              </a:rPr>
              <a:t>DeepSeek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擅长深度推理，能自动识别功能间的相互依赖关系，产出高度结构化的 </a:t>
            </a:r>
            <a:r>
              <a:rPr lang="en-US" altLang="zh-CN" dirty="0">
                <a:solidFill>
                  <a:schemeClr val="tx1"/>
                </a:solidFill>
              </a:rPr>
              <a:t>MECE </a:t>
            </a:r>
            <a:r>
              <a:rPr lang="zh-CN" altLang="en-US" dirty="0">
                <a:solidFill>
                  <a:schemeClr val="tx1"/>
                </a:solidFill>
              </a:rPr>
              <a:t>列表。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)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/>
                </a:solidFill>
              </a:rPr>
              <a:t>	Gemini pro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具备超长上下文能力，能同时处理业务目标、资源限制、技术门槛等多个变量，平衡优先级。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08083" y="4839470"/>
            <a:ext cx="53851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+mn-ea"/>
              </a:rPr>
              <a:t>建议工具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: 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字节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Trae(</a:t>
            </a:r>
            <a:r>
              <a:rPr lang="zh-CN" altLang="en-US" dirty="0"/>
              <a:t>一个</a:t>
            </a:r>
            <a:r>
              <a:rPr lang="en-US" altLang="zh-CN" b="1" dirty="0"/>
              <a:t>AI</a:t>
            </a:r>
            <a:r>
              <a:rPr lang="zh-CN" altLang="en-US" b="1" dirty="0"/>
              <a:t>原生</a:t>
            </a:r>
            <a:r>
              <a:rPr lang="en-US" altLang="zh-CN" b="1" dirty="0"/>
              <a:t>IDE</a:t>
            </a:r>
            <a:r>
              <a:rPr lang="zh-CN" altLang="en-US" dirty="0"/>
              <a:t>（集成开发环境）。本质上它是对</a:t>
            </a:r>
            <a:r>
              <a:rPr lang="en-US" altLang="zh-CN" dirty="0"/>
              <a:t>VS Code</a:t>
            </a:r>
            <a:r>
              <a:rPr lang="zh-CN" altLang="en-US" dirty="0"/>
              <a:t>经过改造，内置了</a:t>
            </a:r>
            <a:r>
              <a:rPr lang="en-US" altLang="zh-CN" dirty="0"/>
              <a:t>AI</a:t>
            </a:r>
            <a:r>
              <a:rPr lang="zh-CN" altLang="en-US" dirty="0"/>
              <a:t>智能体（</a:t>
            </a:r>
            <a:r>
              <a:rPr lang="en-US" altLang="zh-CN" dirty="0"/>
              <a:t>Agent</a:t>
            </a:r>
            <a:r>
              <a:rPr lang="zh-CN" altLang="en-US" dirty="0"/>
              <a:t>）。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)</a:t>
            </a:r>
            <a:endParaRPr lang="zh-CN" altLang="en-US" dirty="0"/>
          </a:p>
          <a:p>
            <a:r>
              <a:rPr lang="en-US" altLang="zh-CN" b="1" dirty="0">
                <a:solidFill>
                  <a:schemeClr val="tx1"/>
                </a:solidFill>
              </a:rPr>
              <a:t>	Gemini pro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/>
              <a:t>Gem(Google</a:t>
            </a:r>
            <a:r>
              <a:rPr lang="zh-CN" altLang="en-US" dirty="0"/>
              <a:t>推出的“自定义</a:t>
            </a:r>
            <a:r>
              <a:rPr lang="en-US" altLang="zh-CN" dirty="0"/>
              <a:t>AI”</a:t>
            </a:r>
            <a:r>
              <a:rPr lang="zh-CN" altLang="en-US" dirty="0"/>
              <a:t>功能（类似</a:t>
            </a:r>
            <a:r>
              <a:rPr lang="en-US" altLang="zh-CN" dirty="0"/>
              <a:t>GPT</a:t>
            </a:r>
            <a:r>
              <a:rPr lang="zh-CN" altLang="en-US" dirty="0"/>
              <a:t>），你可以创建一个“专门写</a:t>
            </a:r>
            <a:r>
              <a:rPr lang="en-US" altLang="zh-CN" dirty="0"/>
              <a:t>Python</a:t>
            </a:r>
            <a:r>
              <a:rPr lang="zh-CN" altLang="en-US" dirty="0"/>
              <a:t>的</a:t>
            </a:r>
            <a:r>
              <a:rPr lang="en-US" altLang="zh-CN" dirty="0"/>
              <a:t>Gem”</a:t>
            </a:r>
            <a:r>
              <a:rPr lang="zh-CN" altLang="en-US" dirty="0"/>
              <a:t>或“专门做翻译的</a:t>
            </a:r>
            <a:r>
              <a:rPr lang="en-US" altLang="zh-CN" dirty="0"/>
              <a:t>Gem”</a:t>
            </a:r>
            <a:r>
              <a:rPr lang="zh-CN" altLang="en-US" dirty="0"/>
              <a:t>。</a:t>
            </a:r>
            <a:r>
              <a:rPr lang="en-US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1105209" y="3543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</a:rPr>
              <a:t>实战一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</a:rPr>
              <a:t>: 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AI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</a:rPr>
              <a:t>,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市场洞察与用户研究</a:t>
            </a:r>
            <a:endParaRPr lang="en-US" altLang="zh-CN" sz="3200" b="1" dirty="0">
              <a:solidFill>
                <a:schemeClr val="tx1"/>
              </a:solidFill>
              <a:latin typeface="Noto Sans SC"/>
              <a:ea typeface="Noto Sans SC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64242" y="1289072"/>
            <a:ext cx="3025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1.1 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ea"/>
              </a:rPr>
              <a:t>海量行业调研</a:t>
            </a:r>
            <a:endParaRPr lang="zh-CN" altLang="en-US" dirty="0"/>
          </a:p>
        </p:txBody>
      </p:sp>
      <p:sp>
        <p:nvSpPr>
          <p:cNvPr id="9" name="AutoShape 5"/>
          <p:cNvSpPr/>
          <p:nvPr/>
        </p:nvSpPr>
        <p:spPr>
          <a:xfrm>
            <a:off x="1199193" y="2272869"/>
            <a:ext cx="3501046" cy="2002263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“请搜索 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2025-2026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年中国互联网医疗关于‘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预问诊’的所有政策法规和头部竞品（如平安好医生、京东健康）的动作，请直接整理成 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SWOT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矩阵，并重点分析我们在‘慢病管理’赛道的机会点。”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4815906" y="2272869"/>
            <a:ext cx="3501046" cy="2002263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这是过去一个月的 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5000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条患者评价数据，请帮我分析：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抱怨最多的前三个功能点是什么？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有多少比例的评价提到了‘医生回复太慢’？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请总结用户在提到‘自费支付’时的主要情绪压力。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AutoShape 5"/>
          <p:cNvSpPr/>
          <p:nvPr/>
        </p:nvSpPr>
        <p:spPr>
          <a:xfrm>
            <a:off x="8484657" y="2272869"/>
            <a:ext cx="3501046" cy="2002263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latin typeface="+mn-ea"/>
              </a:rPr>
              <a:t>“你现在是一名 </a:t>
            </a:r>
            <a:r>
              <a:rPr lang="en-US" altLang="zh-CN" dirty="0">
                <a:solidFill>
                  <a:schemeClr val="tx1"/>
                </a:solidFill>
                <a:latin typeface="+mn-ea"/>
              </a:rPr>
              <a:t>65 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岁、患有高血压、且不太擅长使用智能手机的农村患者。现在我向你展示‘智能挂号’的三个步骤文案，请告诉我你看到每一行字时的真实感受，哪一步让你觉得最困惑？”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AutoShape 5"/>
          <p:cNvSpPr/>
          <p:nvPr/>
        </p:nvSpPr>
        <p:spPr>
          <a:xfrm>
            <a:off x="1199193" y="4387886"/>
            <a:ext cx="3501046" cy="2302846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角色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你现在是麦肯锡资深医疗分析师。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目标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调研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2025-2026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年中国关于‘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AI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辅助诊断’的最新监管红线，并对比平安好医生与京东健康在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C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端预问诊路径上的逻辑差异。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要求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请不要给出宽泛的描述，必须包含：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政策中明确禁止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AI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执行的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3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个具体医疗行为；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竞品在‘隐私保护’与‘响应速度’之间的平衡策略；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用表格形式输出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SWOT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分析，并额外增加一个‘对小规模初创公司的致命威胁’维度。”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AutoShape 5"/>
          <p:cNvSpPr/>
          <p:nvPr/>
        </p:nvSpPr>
        <p:spPr>
          <a:xfrm>
            <a:off x="4815906" y="4387886"/>
            <a:ext cx="3501046" cy="2302846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角色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你是顶级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UX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研究专家。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目标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我将输入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5000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条患者评价，请你执行‘三层过滤法’进行语义提炼。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提问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指令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&gt;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第一层：聚类。请忽略‘好评’，按‘功能逻辑、系统性能、信任度、交互负担’四个维度分类。 第二层：挖掘。在‘交互负担’类目下，找出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3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个用户没有明说、但通过‘太麻烦’、‘找不着’等词汇反映出的深层认知障碍。 第三层：量化。请计算这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5000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条中，有多少比例的流失风险是由‘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AI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回复太冷冰冰’导致的？并给出三个具体的文案优化方向来提升‘医患信任感’。”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8484657" y="4387886"/>
            <a:ext cx="3501046" cy="2302846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高阶 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Prompt: </a:t>
            </a:r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角色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请完全沉浸于以下身份：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[68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岁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农村患者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恐技症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急性焦虑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]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目标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验证我目前的预问诊首句话术是否会让你产生退缩心理。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提问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指令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&gt;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现在我会给你发送我的产品首屏文案：‘您好，我是智能医生助理，请在下方详细描述您的症状、持续时间及既往史，以便我为您匹配专家。’ 请回答：看到‘既往史’和‘匹配专家’这两个词时，你的第一心理反应是什么？如果让你现在打字输入，你会感到哪里最困难？请以你的身份，修改这句文案，要求：听起来像隔壁邻居在关心你，而不是机器人在审查你。”</a:t>
            </a:r>
            <a:endParaRPr lang="en-US" altLang="zh-CN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58" y="3120111"/>
            <a:ext cx="137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常见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Prompt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5122374"/>
            <a:ext cx="137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高阶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Prompt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69381" y="1693272"/>
            <a:ext cx="2866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利用</a:t>
            </a:r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DeepSeek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ea"/>
              </a:rPr>
              <a:t>深度搜索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快速生成行业图谱与竞品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n-ea"/>
              </a:rPr>
              <a:t>SWOT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分析</a:t>
            </a:r>
            <a:endParaRPr lang="en-US" altLang="zh-CN" sz="14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0" y="1312871"/>
            <a:ext cx="137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场景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Prompt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24401" y="1686405"/>
            <a:ext cx="35925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利用</a:t>
            </a:r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Gemini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处理海量客服对话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用户评论，自动咳嗽核心痛点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-6998" y="1822359"/>
            <a:ext cx="137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解决方案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724401" y="1347006"/>
            <a:ext cx="2549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1.2 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ea"/>
              </a:rPr>
              <a:t>用户原始反馈处理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8404305" y="1345514"/>
            <a:ext cx="44381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1.3 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ea"/>
              </a:rPr>
              <a:t>用户画像构建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8404305" y="1714637"/>
            <a:ext cx="2743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AI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ea"/>
              </a:rPr>
              <a:t>赋能：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+mn-ea"/>
              </a:rPr>
              <a:t>AI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模拟特定图像进行对话，验证需求想象。</a:t>
            </a:r>
            <a:endParaRPr lang="en-US" altLang="zh-CN" sz="1400" dirty="0">
              <a:solidFill>
                <a:schemeClr val="tx1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1136959" y="370696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</a:rPr>
              <a:t>实战二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</a:rPr>
              <a:t>: 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AI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求分析与流程设计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53089" y="1085085"/>
            <a:ext cx="3025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2.1 </a:t>
            </a:r>
            <a:r>
              <a:rPr lang="zh-CN" altLang="en-US" b="1" dirty="0">
                <a:solidFill>
                  <a:schemeClr val="tx1"/>
                </a:solidFill>
              </a:rPr>
              <a:t>需求分析与拆解</a:t>
            </a:r>
            <a:endParaRPr lang="zh-CN" altLang="en-US" dirty="0"/>
          </a:p>
        </p:txBody>
      </p:sp>
      <p:sp>
        <p:nvSpPr>
          <p:cNvPr id="9" name="AutoShape 5"/>
          <p:cNvSpPr/>
          <p:nvPr/>
        </p:nvSpPr>
        <p:spPr>
          <a:xfrm>
            <a:off x="1199193" y="2272869"/>
            <a:ext cx="3501046" cy="2002263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请通过渐进式提问理清需求，重点确认产品类型、合规性、业务目标及范围边界。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最后输出一个完整的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需求文档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4815906" y="2272869"/>
            <a:ext cx="3501046" cy="2002263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作为资深产品经理，请深入解析需求文档中的核心业务逻辑与用户操作路径，精准识别关键决策节点、优先级判断及异常分支，在确保逻辑闭环的前提下，输出一份标准清晰的</a:t>
            </a:r>
            <a:r>
              <a:rPr lang="en-US" altLang="zh-CN" dirty="0">
                <a:solidFill>
                  <a:schemeClr val="tx1"/>
                </a:solidFill>
              </a:rPr>
              <a:t>Mermaid</a:t>
            </a:r>
            <a:r>
              <a:rPr lang="zh-CN" altLang="en-US" dirty="0">
                <a:solidFill>
                  <a:schemeClr val="tx1"/>
                </a:solidFill>
              </a:rPr>
              <a:t>格式业务流程图，以直观展示完整的产品流转机制。</a:t>
            </a:r>
            <a:r>
              <a:rPr lang="en-US" altLang="zh-CN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2" name="AutoShape 5"/>
          <p:cNvSpPr/>
          <p:nvPr/>
        </p:nvSpPr>
        <p:spPr>
          <a:xfrm>
            <a:off x="8484657" y="2272869"/>
            <a:ext cx="3501046" cy="2002263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>
              <a:defRPr/>
            </a:pPr>
            <a:r>
              <a:rPr lang="zh-CN" altLang="en-US" dirty="0">
                <a:solidFill>
                  <a:schemeClr val="tx1"/>
                </a:solidFill>
              </a:rPr>
              <a:t>请扮演资深产品经理，通过初始提问与循环澄清机制，引导我逐步完善碎片化需求并进行优先级博弈，在严格确认需求完整后，输出一份包含用户故事、优先级理由及开发复杂度的结构化功能清单表格。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AutoShape 5"/>
          <p:cNvSpPr/>
          <p:nvPr/>
        </p:nvSpPr>
        <p:spPr>
          <a:xfrm>
            <a:off x="1198880" y="4387850"/>
            <a:ext cx="3500755" cy="8193405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【角色】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你是一位经验丰富的资深业务分析师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(BA)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。你擅长通过职场协作式的沟通，将用户模糊的想法转化为逻辑严密、结构清晰的业务需求文档。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【目标】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协助用户梳理产品背景、明确核心功能边界，并最终输出一份标准化的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**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《需求拆解大纲》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**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【要求】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沟通原则：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温和引导：使用专业且亲切的口吻（如称呼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您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），像同事一样协作。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循序渐进：若信息不足，每次仅追问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1-2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个核心问题，严禁一次性抛出冗长的问卷。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场景举例：提问时必须附带具体示例（如：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该功能是给普通用户用，还是给内部客服用？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）。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核心信息收集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(P0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级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)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：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在正式分析前，必须引导用户明确以下要点：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基础定义：产品类型（金融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医疗等）、终端形式（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App/Web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等）。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范围管理：哪些功能必须做，哪些功能本期不做（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MECE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原则）。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合规边界：是否涉及资金、身份证、隐私病历等敏感数据。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业务价值：上线后想要达成的具体目标（如效率提升、零差错等）。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输出格式：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信息收集完毕后，请按以下结构输出报告：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一、核心定义：一句话价值、用户画像、成功衡量指标。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二、功能模块大纲：分层级列出模块名称及功能点（标注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P0/P1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优先级）。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三、领域模型：列出核心实体（如：订单、账户）及其关键流转状态。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AutoShape 5"/>
          <p:cNvSpPr/>
          <p:nvPr/>
        </p:nvSpPr>
        <p:spPr>
          <a:xfrm>
            <a:off x="4815840" y="4387850"/>
            <a:ext cx="3500755" cy="3889375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【角色】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你是一位严谨的逻辑架构师与流程专家。你拥有极强的推理能力，能根据简单的功能描述，反向推导出复杂的后台逻辑、异常情况及合规风险。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【目标】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根据用户提供的《需求功能大纲》，通过绘制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 Mermaid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流程图理清业务逻辑，并深度挖掘那些用户还没想到的隐性规则与安全隐患。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【要求】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深度逻辑推理（自动补完）：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你不能只复述用户的话，必须根据场景自动补充底层逻辑：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合规与风控监测：自动识别身份证、密码、病历等高危数据。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标准化输出：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业务流程图：生成标准的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 mermaid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代码。必须包含正常路径和异常路径（如：超时、校验失败、权限不足）。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逻辑查漏清单：以</a:t>
            </a:r>
            <a:r>
              <a:rPr lang="en-US" altLang="zh-CN" sz="1100" dirty="0">
                <a:solidFill>
                  <a:schemeClr val="tx1"/>
                </a:solidFill>
                <a:latin typeface="+mn-ea"/>
              </a:rPr>
              <a:t> Checkbox </a:t>
            </a:r>
            <a:r>
              <a:rPr lang="zh-CN" altLang="en-US" sz="1100" dirty="0">
                <a:solidFill>
                  <a:schemeClr val="tx1"/>
                </a:solidFill>
                <a:latin typeface="+mn-ea"/>
              </a:rPr>
              <a:t>列表形式指出遗漏点</a:t>
            </a:r>
            <a:endParaRPr lang="zh-CN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8484870" y="4387850"/>
            <a:ext cx="3500755" cy="10709275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【角色】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你是一位拥有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10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年经验的资深产品经理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(PM)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。你擅长从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0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到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1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的产品规划，精通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用户故事（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User Story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）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撰写与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“MoSCoW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优先级法则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。你的思维逻辑严密，能够像拼图一样将碎片化的想法拼成完整的产品蓝图。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【目标】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通过深度对话和逻辑博弈，将用户模糊的产品想法或散乱的需求点，转化为一份详尽、可落地的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**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《核心功能清单表格》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**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【要求】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1.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严格的阶段性工作流（不可跳步）：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阶段一：初始采集：一次性提出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5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个最关键的定义问题（目标用户、核心痛点、使用场景、竞品对标、商业价值），等待用户回答。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阶段二：循环迭代（核心）：收到回答后，严禁立即生成清单，必须执行以下步骤：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漏洞分析：指出逻辑矛盾或模糊点。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优先级博弈：若功能太臃肿，必须强制引导用户取舍，并给出你的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PM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建议。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细节追问：针对性追问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 2-3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个细节。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完整性确认：每次回复末尾必须询问：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您是否还有其他模块需要补充（如后台、通知、统计等）？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阶段三：方案输出：只有当用户明确说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没有了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或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开始生成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时，才输出最终表格。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2.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核心原则：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增量记忆：必须记住对话中提到的所有细节，支持不断补充新需求。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MVP 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导向：始终关注最小可行性产品，建议将非核心功能后置。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  <a:p>
            <a:pPr lvl="1"/>
            <a:endParaRPr lang="en-US" altLang="zh-CN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专业克制：语气专业客观，在未获得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确认完整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指令前，绝不提前输出表格。</a:t>
            </a:r>
            <a:endParaRPr lang="zh-CN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-11153" y="3120111"/>
            <a:ext cx="137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常见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Prompt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-11153" y="5122374"/>
            <a:ext cx="1377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高阶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Prompt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69381" y="1693272"/>
            <a:ext cx="33788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利用</a:t>
            </a:r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DeepSeek</a:t>
            </a:r>
            <a:r>
              <a:rPr lang="zh-CN" altLang="en-US" sz="1400" b="1" dirty="0">
                <a:solidFill>
                  <a:schemeClr val="tx1"/>
                </a:solidFill>
                <a:effectLst/>
                <a:latin typeface="+mn-ea"/>
              </a:rPr>
              <a:t>深度搜索</a:t>
            </a:r>
            <a:r>
              <a:rPr lang="zh-CN" altLang="en-US" dirty="0">
                <a:solidFill>
                  <a:schemeClr val="tx1"/>
                </a:solidFill>
              </a:rPr>
              <a:t>构建提示辅助需求拆解，自动生成</a:t>
            </a:r>
            <a:r>
              <a:rPr lang="en-US" altLang="zh-CN" dirty="0">
                <a:solidFill>
                  <a:schemeClr val="tx1"/>
                </a:solidFill>
              </a:rPr>
              <a:t>MECE</a:t>
            </a:r>
            <a:r>
              <a:rPr lang="zh-CN" altLang="en-US" dirty="0">
                <a:solidFill>
                  <a:schemeClr val="tx1"/>
                </a:solidFill>
              </a:rPr>
              <a:t>框架的功能点。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-11153" y="1085085"/>
            <a:ext cx="137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场景 </a:t>
            </a:r>
            <a:r>
              <a:rPr lang="en-US" altLang="zh-CN" sz="1400" b="1" dirty="0">
                <a:solidFill>
                  <a:srgbClr val="FF0000"/>
                </a:solidFill>
                <a:latin typeface="+mn-ea"/>
              </a:rPr>
              <a:t>Prompt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24401" y="1686405"/>
            <a:ext cx="35925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/>
                <a:latin typeface="+mn-ea"/>
              </a:rPr>
              <a:t>利用</a:t>
            </a:r>
            <a:r>
              <a:rPr lang="en-US" altLang="zh-CN" sz="1400" b="1" dirty="0">
                <a:solidFill>
                  <a:schemeClr val="tx1"/>
                </a:solidFill>
                <a:effectLst/>
                <a:latin typeface="+mn-ea"/>
              </a:rPr>
              <a:t>Gemini</a:t>
            </a:r>
            <a:r>
              <a:rPr lang="zh-CN" altLang="en-US" dirty="0">
                <a:solidFill>
                  <a:schemeClr val="tx1"/>
                </a:solidFill>
              </a:rPr>
              <a:t>描述逻辑，由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检查分支覆盖率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-11153" y="1822359"/>
            <a:ext cx="1375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+mn-ea"/>
              </a:rPr>
              <a:t>解决方案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713248" y="1085085"/>
            <a:ext cx="2549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2.2 </a:t>
            </a:r>
            <a:r>
              <a:rPr lang="zh-CN" altLang="en-US" b="1" dirty="0">
                <a:solidFill>
                  <a:schemeClr val="tx1"/>
                </a:solidFill>
              </a:rPr>
              <a:t>业务流程与逻辑查漏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8393153" y="1085085"/>
            <a:ext cx="3449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2.3 </a:t>
            </a:r>
            <a:r>
              <a:rPr lang="zh-CN" altLang="en-US" b="1" dirty="0">
                <a:solidFill>
                  <a:schemeClr val="tx1"/>
                </a:solidFill>
              </a:rPr>
              <a:t>产品规划（</a:t>
            </a:r>
            <a:r>
              <a:rPr lang="en-US" altLang="zh-CN" b="1" dirty="0">
                <a:solidFill>
                  <a:schemeClr val="tx1"/>
                </a:solidFill>
              </a:rPr>
              <a:t>Roadmap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8393152" y="1499402"/>
            <a:ext cx="35925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</a:rPr>
              <a:t>Gemini pro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具备超长上下文能力，能同时处理业务目标、资源限制、技术门槛等多个变量，平衡优先级。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1105209" y="3543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AI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适合产品经理使用的结构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2620645" y="21780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核心点：</a:t>
            </a:r>
            <a:r>
              <a:rPr lang="zh-CN" altLang="en-US" sz="1050" dirty="0">
                <a:solidFill>
                  <a:schemeClr val="tx1"/>
                </a:solidFill>
              </a:rPr>
              <a:t> 极度强调“输入”与“输出”的边界，适合让 </a:t>
            </a:r>
            <a:r>
              <a:rPr lang="en-US" altLang="zh-CN" sz="1050" dirty="0">
                <a:solidFill>
                  <a:schemeClr val="tx1"/>
                </a:solidFill>
              </a:rPr>
              <a:t>AI </a:t>
            </a:r>
            <a:r>
              <a:rPr lang="zh-CN" altLang="en-US" sz="1050" dirty="0">
                <a:solidFill>
                  <a:schemeClr val="tx1"/>
                </a:solidFill>
              </a:rPr>
              <a:t>处理海量反馈或撰写 </a:t>
            </a:r>
            <a:r>
              <a:rPr lang="en-US" altLang="zh-CN" sz="1050" dirty="0">
                <a:solidFill>
                  <a:schemeClr val="tx1"/>
                </a:solidFill>
              </a:rPr>
              <a:t>PRD</a:t>
            </a:r>
            <a:r>
              <a:rPr lang="zh-CN" altLang="en-US" sz="1050" dirty="0">
                <a:solidFill>
                  <a:schemeClr val="tx1"/>
                </a:solidFill>
              </a:rPr>
              <a:t>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I (Instruction) - </a:t>
            </a:r>
            <a:r>
              <a:rPr lang="zh-CN" altLang="en-US" sz="1050" b="1" dirty="0">
                <a:solidFill>
                  <a:schemeClr val="tx1"/>
                </a:solidFill>
              </a:rPr>
              <a:t>指令：</a:t>
            </a:r>
            <a:r>
              <a:rPr lang="zh-CN" altLang="en-US" sz="1050" dirty="0">
                <a:solidFill>
                  <a:schemeClr val="tx1"/>
                </a:solidFill>
              </a:rPr>
              <a:t> 你要 </a:t>
            </a:r>
            <a:r>
              <a:rPr lang="en-US" altLang="zh-CN" sz="1050" dirty="0">
                <a:solidFill>
                  <a:schemeClr val="tx1"/>
                </a:solidFill>
              </a:rPr>
              <a:t>AI </a:t>
            </a:r>
            <a:r>
              <a:rPr lang="zh-CN" altLang="en-US" sz="1050" dirty="0">
                <a:solidFill>
                  <a:schemeClr val="tx1"/>
                </a:solidFill>
              </a:rPr>
              <a:t>做的具体动作（如：总结、分类、撰写）。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C (Context) - </a:t>
            </a:r>
            <a:r>
              <a:rPr lang="zh-CN" altLang="en-US" sz="1050" b="1" dirty="0">
                <a:solidFill>
                  <a:schemeClr val="tx1"/>
                </a:solidFill>
              </a:rPr>
              <a:t>背景：</a:t>
            </a:r>
            <a:r>
              <a:rPr lang="zh-CN" altLang="en-US" sz="1050" dirty="0">
                <a:solidFill>
                  <a:schemeClr val="tx1"/>
                </a:solidFill>
              </a:rPr>
              <a:t> 提供业务背景、产品阶段、受众是谁。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I (Input) - </a:t>
            </a:r>
            <a:r>
              <a:rPr lang="zh-CN" altLang="en-US" sz="1050" b="1" dirty="0">
                <a:solidFill>
                  <a:schemeClr val="tx1"/>
                </a:solidFill>
              </a:rPr>
              <a:t>输入数据：</a:t>
            </a:r>
            <a:r>
              <a:rPr lang="zh-CN" altLang="en-US" sz="1050" dirty="0">
                <a:solidFill>
                  <a:schemeClr val="tx1"/>
                </a:solidFill>
              </a:rPr>
              <a:t> 需要处理的具体内容（如：用户评论、原始需求）。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O (Output) - </a:t>
            </a:r>
            <a:r>
              <a:rPr lang="zh-CN" altLang="en-US" sz="1050" b="1" dirty="0">
                <a:solidFill>
                  <a:schemeClr val="tx1"/>
                </a:solidFill>
              </a:rPr>
              <a:t>输出要求：</a:t>
            </a:r>
            <a:r>
              <a:rPr lang="zh-CN" altLang="en-US" sz="1050" dirty="0">
                <a:solidFill>
                  <a:schemeClr val="tx1"/>
                </a:solidFill>
              </a:rPr>
              <a:t> 规定格式（表格、</a:t>
            </a:r>
            <a:r>
              <a:rPr lang="en-US" altLang="zh-CN" sz="1050" dirty="0">
                <a:solidFill>
                  <a:schemeClr val="tx1"/>
                </a:solidFill>
              </a:rPr>
              <a:t>JSON</a:t>
            </a:r>
            <a:r>
              <a:rPr lang="zh-CN" altLang="en-US" sz="1050" dirty="0">
                <a:solidFill>
                  <a:schemeClr val="tx1"/>
                </a:solidFill>
              </a:rPr>
              <a:t>、</a:t>
            </a:r>
            <a:r>
              <a:rPr lang="en-US" altLang="zh-CN" sz="1050" dirty="0">
                <a:solidFill>
                  <a:schemeClr val="tx1"/>
                </a:solidFill>
              </a:rPr>
              <a:t>Markdown</a:t>
            </a:r>
            <a:r>
              <a:rPr lang="zh-CN" altLang="en-US" sz="1050" dirty="0">
                <a:solidFill>
                  <a:schemeClr val="tx1"/>
                </a:solidFill>
              </a:rPr>
              <a:t>）、字数、语气。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PM </a:t>
            </a:r>
            <a:r>
              <a:rPr lang="zh-CN" altLang="en-US" sz="1050" b="1" dirty="0">
                <a:solidFill>
                  <a:schemeClr val="tx1"/>
                </a:solidFill>
              </a:rPr>
              <a:t>场景示例（处理用户原声）：</a:t>
            </a:r>
            <a:r>
              <a:rPr lang="zh-CN" altLang="en-US" sz="1050" dirty="0">
                <a:solidFill>
                  <a:schemeClr val="tx1"/>
                </a:solidFill>
              </a:rPr>
              <a:t> “</a:t>
            </a:r>
            <a:r>
              <a:rPr lang="en-US" altLang="zh-CN" sz="1050" b="1" dirty="0">
                <a:solidFill>
                  <a:schemeClr val="tx1"/>
                </a:solidFill>
              </a:rPr>
              <a:t>[Instruction]</a:t>
            </a:r>
            <a:r>
              <a:rPr lang="zh-CN" altLang="en-US" sz="1050" dirty="0">
                <a:solidFill>
                  <a:schemeClr val="tx1"/>
                </a:solidFill>
              </a:rPr>
              <a:t> 请分析以下用户反馈并提取痛点。</a:t>
            </a:r>
            <a:r>
              <a:rPr lang="en-US" altLang="zh-CN" sz="1050" b="1" dirty="0">
                <a:solidFill>
                  <a:schemeClr val="tx1"/>
                </a:solidFill>
              </a:rPr>
              <a:t>[Context]</a:t>
            </a:r>
            <a:r>
              <a:rPr lang="zh-CN" altLang="en-US" sz="1050" dirty="0">
                <a:solidFill>
                  <a:schemeClr val="tx1"/>
                </a:solidFill>
              </a:rPr>
              <a:t> 我们是一个针对老年人的互联网医疗 </a:t>
            </a:r>
            <a:r>
              <a:rPr lang="en-US" altLang="zh-CN" sz="1050" dirty="0">
                <a:solidFill>
                  <a:schemeClr val="tx1"/>
                </a:solidFill>
              </a:rPr>
              <a:t>App</a:t>
            </a:r>
            <a:r>
              <a:rPr lang="zh-CN" altLang="en-US" sz="1050" dirty="0">
                <a:solidFill>
                  <a:schemeClr val="tx1"/>
                </a:solidFill>
              </a:rPr>
              <a:t>，目前处于留存率下滑阶段。</a:t>
            </a:r>
            <a:r>
              <a:rPr lang="en-US" altLang="zh-CN" sz="1050" b="1" dirty="0">
                <a:solidFill>
                  <a:schemeClr val="tx1"/>
                </a:solidFill>
              </a:rPr>
              <a:t>[Input]</a:t>
            </a:r>
            <a:r>
              <a:rPr lang="zh-CN" altLang="en-US" sz="1050" dirty="0">
                <a:solidFill>
                  <a:schemeClr val="tx1"/>
                </a:solidFill>
              </a:rPr>
              <a:t> </a:t>
            </a:r>
            <a:r>
              <a:rPr lang="en-US" altLang="zh-CN" sz="1050" dirty="0">
                <a:solidFill>
                  <a:schemeClr val="tx1"/>
                </a:solidFill>
              </a:rPr>
              <a:t>[</a:t>
            </a:r>
            <a:r>
              <a:rPr lang="zh-CN" altLang="en-US" sz="1050" dirty="0">
                <a:solidFill>
                  <a:schemeClr val="tx1"/>
                </a:solidFill>
              </a:rPr>
              <a:t>粘贴 </a:t>
            </a:r>
            <a:r>
              <a:rPr lang="en-US" altLang="zh-CN" sz="1050" dirty="0">
                <a:solidFill>
                  <a:schemeClr val="tx1"/>
                </a:solidFill>
              </a:rPr>
              <a:t>100 </a:t>
            </a:r>
            <a:r>
              <a:rPr lang="zh-CN" altLang="en-US" sz="1050" dirty="0">
                <a:solidFill>
                  <a:schemeClr val="tx1"/>
                </a:solidFill>
              </a:rPr>
              <a:t>条评论数据</a:t>
            </a:r>
            <a:r>
              <a:rPr lang="en-US" altLang="zh-CN" sz="1050" dirty="0">
                <a:solidFill>
                  <a:schemeClr val="tx1"/>
                </a:solidFill>
              </a:rPr>
              <a:t>]</a:t>
            </a:r>
            <a:r>
              <a:rPr lang="zh-CN" altLang="en-US" sz="1050" dirty="0">
                <a:solidFill>
                  <a:schemeClr val="tx1"/>
                </a:solidFill>
              </a:rPr>
              <a:t>。</a:t>
            </a:r>
            <a:r>
              <a:rPr lang="en-US" altLang="zh-CN" sz="1050" b="1" dirty="0">
                <a:solidFill>
                  <a:schemeClr val="tx1"/>
                </a:solidFill>
              </a:rPr>
              <a:t>[Output]</a:t>
            </a:r>
            <a:r>
              <a:rPr lang="zh-CN" altLang="en-US" sz="1050" dirty="0">
                <a:solidFill>
                  <a:schemeClr val="tx1"/>
                </a:solidFill>
              </a:rPr>
              <a:t> 请以 </a:t>
            </a:r>
            <a:r>
              <a:rPr lang="en-US" altLang="zh-CN" sz="1050" dirty="0">
                <a:solidFill>
                  <a:schemeClr val="tx1"/>
                </a:solidFill>
              </a:rPr>
              <a:t>Markdown </a:t>
            </a:r>
            <a:r>
              <a:rPr lang="zh-CN" altLang="en-US" sz="1050" dirty="0">
                <a:solidFill>
                  <a:schemeClr val="tx1"/>
                </a:solidFill>
              </a:rPr>
              <a:t>表格输出，包含：痛点类别、严重程度（</a:t>
            </a:r>
            <a:r>
              <a:rPr lang="en-US" altLang="zh-CN" sz="1050" dirty="0">
                <a:solidFill>
                  <a:schemeClr val="tx1"/>
                </a:solidFill>
              </a:rPr>
              <a:t>P0-P2</a:t>
            </a:r>
            <a:r>
              <a:rPr lang="zh-CN" altLang="en-US" sz="1050" dirty="0">
                <a:solidFill>
                  <a:schemeClr val="tx1"/>
                </a:solidFill>
              </a:rPr>
              <a:t>）、对应的功能改进建议。”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4" name="AutoShape 5"/>
          <p:cNvSpPr/>
          <p:nvPr/>
        </p:nvSpPr>
        <p:spPr>
          <a:xfrm>
            <a:off x="4968124" y="21780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核心点：</a:t>
            </a:r>
            <a:r>
              <a:rPr lang="zh-CN" altLang="en-US" sz="1050" dirty="0">
                <a:solidFill>
                  <a:schemeClr val="tx1"/>
                </a:solidFill>
              </a:rPr>
              <a:t> 由字节跳动等大厂推崇，强调</a:t>
            </a:r>
            <a:r>
              <a:rPr lang="zh-CN" altLang="en-US" sz="1050" b="1" dirty="0">
                <a:solidFill>
                  <a:schemeClr val="tx1"/>
                </a:solidFill>
              </a:rPr>
              <a:t>风格（</a:t>
            </a:r>
            <a:r>
              <a:rPr lang="en-US" altLang="zh-CN" sz="1050" b="1" dirty="0">
                <a:solidFill>
                  <a:schemeClr val="tx1"/>
                </a:solidFill>
              </a:rPr>
              <a:t>Style</a:t>
            </a:r>
            <a:r>
              <a:rPr lang="zh-CN" altLang="en-US" sz="1050" b="1" dirty="0">
                <a:solidFill>
                  <a:schemeClr val="tx1"/>
                </a:solidFill>
              </a:rPr>
              <a:t>）和语气（</a:t>
            </a:r>
            <a:r>
              <a:rPr lang="en-US" altLang="zh-CN" sz="1050" b="1" dirty="0">
                <a:solidFill>
                  <a:schemeClr val="tx1"/>
                </a:solidFill>
              </a:rPr>
              <a:t>Tone</a:t>
            </a:r>
            <a:r>
              <a:rPr lang="zh-CN" altLang="en-US" sz="1050" b="1" dirty="0">
                <a:solidFill>
                  <a:schemeClr val="tx1"/>
                </a:solidFill>
              </a:rPr>
              <a:t>）</a:t>
            </a:r>
            <a:r>
              <a:rPr lang="zh-CN" altLang="en-US" sz="1050" dirty="0">
                <a:solidFill>
                  <a:schemeClr val="tx1"/>
                </a:solidFill>
              </a:rPr>
              <a:t>，适合写邮件、周报、项目提案。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C (Context) - </a:t>
            </a:r>
            <a:r>
              <a:rPr lang="zh-CN" altLang="en-US" sz="1050" b="1" dirty="0">
                <a:solidFill>
                  <a:schemeClr val="tx1"/>
                </a:solidFill>
              </a:rPr>
              <a:t>上下文：</a:t>
            </a:r>
            <a:r>
              <a:rPr lang="zh-CN" altLang="en-US" sz="1050" dirty="0">
                <a:solidFill>
                  <a:schemeClr val="tx1"/>
                </a:solidFill>
              </a:rPr>
              <a:t> 任务背景信息。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O (Objective) - </a:t>
            </a:r>
            <a:r>
              <a:rPr lang="zh-CN" altLang="en-US" sz="1050" b="1" dirty="0">
                <a:solidFill>
                  <a:schemeClr val="tx1"/>
                </a:solidFill>
              </a:rPr>
              <a:t>目标：</a:t>
            </a:r>
            <a:r>
              <a:rPr lang="zh-CN" altLang="en-US" sz="1050" dirty="0">
                <a:solidFill>
                  <a:schemeClr val="tx1"/>
                </a:solidFill>
              </a:rPr>
              <a:t> 你希望 </a:t>
            </a:r>
            <a:r>
              <a:rPr lang="en-US" altLang="zh-CN" sz="1050" dirty="0">
                <a:solidFill>
                  <a:schemeClr val="tx1"/>
                </a:solidFill>
              </a:rPr>
              <a:t>AI </a:t>
            </a:r>
            <a:r>
              <a:rPr lang="zh-CN" altLang="en-US" sz="1050" dirty="0">
                <a:solidFill>
                  <a:schemeClr val="tx1"/>
                </a:solidFill>
              </a:rPr>
              <a:t>达成的最终结果。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S (Style) - </a:t>
            </a:r>
            <a:r>
              <a:rPr lang="zh-CN" altLang="en-US" sz="1050" b="1" dirty="0">
                <a:solidFill>
                  <a:schemeClr val="tx1"/>
                </a:solidFill>
              </a:rPr>
              <a:t>风格：</a:t>
            </a:r>
            <a:r>
              <a:rPr lang="zh-CN" altLang="en-US" sz="1050" dirty="0">
                <a:solidFill>
                  <a:schemeClr val="tx1"/>
                </a:solidFill>
              </a:rPr>
              <a:t> 模仿特定专家（如：乔布斯的简洁感、分析师的逻辑感）。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T (Tone) - </a:t>
            </a:r>
            <a:r>
              <a:rPr lang="zh-CN" altLang="en-US" sz="1050" b="1" dirty="0">
                <a:solidFill>
                  <a:schemeClr val="tx1"/>
                </a:solidFill>
              </a:rPr>
              <a:t>语气：</a:t>
            </a:r>
            <a:r>
              <a:rPr lang="zh-CN" altLang="en-US" sz="1050" dirty="0">
                <a:solidFill>
                  <a:schemeClr val="tx1"/>
                </a:solidFill>
              </a:rPr>
              <a:t> 严肃、幽默、鼓励还是专业。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A (Audience) - </a:t>
            </a:r>
            <a:r>
              <a:rPr lang="zh-CN" altLang="en-US" sz="1050" b="1" dirty="0">
                <a:solidFill>
                  <a:schemeClr val="tx1"/>
                </a:solidFill>
              </a:rPr>
              <a:t>受众：</a:t>
            </a:r>
            <a:r>
              <a:rPr lang="zh-CN" altLang="en-US" sz="1050" dirty="0">
                <a:solidFill>
                  <a:schemeClr val="tx1"/>
                </a:solidFill>
              </a:rPr>
              <a:t> 方案是给程序员看，还是给老板看？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R (Response) - </a:t>
            </a:r>
            <a:r>
              <a:rPr lang="zh-CN" altLang="en-US" sz="1050" b="1" dirty="0">
                <a:solidFill>
                  <a:schemeClr val="tx1"/>
                </a:solidFill>
              </a:rPr>
              <a:t>回应格式：</a:t>
            </a:r>
            <a:r>
              <a:rPr lang="zh-CN" altLang="en-US" sz="1050" dirty="0">
                <a:solidFill>
                  <a:schemeClr val="tx1"/>
                </a:solidFill>
              </a:rPr>
              <a:t> 最终交付的形式。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PM </a:t>
            </a:r>
            <a:r>
              <a:rPr lang="zh-CN" altLang="en-US" sz="1050" b="1" dirty="0">
                <a:solidFill>
                  <a:schemeClr val="tx1"/>
                </a:solidFill>
              </a:rPr>
              <a:t>场景示例（给技术团队发排期邮件）：</a:t>
            </a:r>
            <a:r>
              <a:rPr lang="zh-CN" altLang="en-US" sz="1050" dirty="0">
                <a:solidFill>
                  <a:schemeClr val="tx1"/>
                </a:solidFill>
              </a:rPr>
              <a:t> “</a:t>
            </a:r>
            <a:r>
              <a:rPr lang="en-US" altLang="zh-CN" sz="1050" b="1" dirty="0">
                <a:solidFill>
                  <a:schemeClr val="tx1"/>
                </a:solidFill>
              </a:rPr>
              <a:t>[Context]</a:t>
            </a:r>
            <a:r>
              <a:rPr lang="zh-CN" altLang="en-US" sz="1050" dirty="0">
                <a:solidFill>
                  <a:schemeClr val="tx1"/>
                </a:solidFill>
              </a:rPr>
              <a:t> 项目延期了两周，因为合规性审查增加了新需求。</a:t>
            </a:r>
            <a:r>
              <a:rPr lang="en-US" altLang="zh-CN" sz="1050" b="1" dirty="0">
                <a:solidFill>
                  <a:schemeClr val="tx1"/>
                </a:solidFill>
              </a:rPr>
              <a:t>[Objective]</a:t>
            </a:r>
            <a:r>
              <a:rPr lang="zh-CN" altLang="en-US" sz="1050" dirty="0">
                <a:solidFill>
                  <a:schemeClr val="tx1"/>
                </a:solidFill>
              </a:rPr>
              <a:t> 写一封邮件解释延期原因并请求研发支持。</a:t>
            </a:r>
            <a:r>
              <a:rPr lang="en-US" altLang="zh-CN" sz="1050" b="1" dirty="0">
                <a:solidFill>
                  <a:schemeClr val="tx1"/>
                </a:solidFill>
              </a:rPr>
              <a:t>[Style]</a:t>
            </a:r>
            <a:r>
              <a:rPr lang="zh-CN" altLang="en-US" sz="1050" dirty="0">
                <a:solidFill>
                  <a:schemeClr val="tx1"/>
                </a:solidFill>
              </a:rPr>
              <a:t> 像一位富有领导力且体恤下属的产品负责人。</a:t>
            </a:r>
            <a:r>
              <a:rPr lang="en-US" altLang="zh-CN" sz="1050" b="1" dirty="0">
                <a:solidFill>
                  <a:schemeClr val="tx1"/>
                </a:solidFill>
              </a:rPr>
              <a:t>[Tone]</a:t>
            </a:r>
            <a:r>
              <a:rPr lang="zh-CN" altLang="en-US" sz="1050" dirty="0">
                <a:solidFill>
                  <a:schemeClr val="tx1"/>
                </a:solidFill>
              </a:rPr>
              <a:t> 坦诚、坚定、激励人心。</a:t>
            </a:r>
            <a:r>
              <a:rPr lang="en-US" altLang="zh-CN" sz="1050" b="1" dirty="0">
                <a:solidFill>
                  <a:schemeClr val="tx1"/>
                </a:solidFill>
              </a:rPr>
              <a:t>[Audience]</a:t>
            </a:r>
            <a:r>
              <a:rPr lang="zh-CN" altLang="en-US" sz="1050" dirty="0">
                <a:solidFill>
                  <a:schemeClr val="tx1"/>
                </a:solidFill>
              </a:rPr>
              <a:t> 后端开发团队。</a:t>
            </a:r>
            <a:r>
              <a:rPr lang="en-US" altLang="zh-CN" sz="1050" b="1" dirty="0">
                <a:solidFill>
                  <a:schemeClr val="tx1"/>
                </a:solidFill>
              </a:rPr>
              <a:t>[Response]</a:t>
            </a:r>
            <a:r>
              <a:rPr lang="zh-CN" altLang="en-US" sz="1050" dirty="0">
                <a:solidFill>
                  <a:schemeClr val="tx1"/>
                </a:solidFill>
              </a:rPr>
              <a:t> 包含：现状、原因、新的时间表、对大家的感谢。”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315603" y="21780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核心点：</a:t>
            </a:r>
            <a:r>
              <a:rPr lang="zh-CN" altLang="en-US" sz="1050" dirty="0">
                <a:solidFill>
                  <a:schemeClr val="tx1"/>
                </a:solidFill>
              </a:rPr>
              <a:t> 极简，适合在“豆包”等移动端 </a:t>
            </a:r>
            <a:r>
              <a:rPr lang="en-US" altLang="zh-CN" sz="1050" dirty="0">
                <a:solidFill>
                  <a:schemeClr val="tx1"/>
                </a:solidFill>
              </a:rPr>
              <a:t>AI </a:t>
            </a:r>
            <a:r>
              <a:rPr lang="zh-CN" altLang="en-US" sz="1050" dirty="0">
                <a:solidFill>
                  <a:schemeClr val="tx1"/>
                </a:solidFill>
              </a:rPr>
              <a:t>上快速下达指令。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T (Task) - </a:t>
            </a:r>
            <a:r>
              <a:rPr lang="zh-CN" altLang="en-US" sz="1050" b="1" dirty="0">
                <a:solidFill>
                  <a:schemeClr val="tx1"/>
                </a:solidFill>
              </a:rPr>
              <a:t>任务：</a:t>
            </a:r>
            <a:r>
              <a:rPr lang="zh-CN" altLang="en-US" sz="1050" dirty="0">
                <a:solidFill>
                  <a:schemeClr val="tx1"/>
                </a:solidFill>
              </a:rPr>
              <a:t> 做什么。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R (Role) - </a:t>
            </a:r>
            <a:r>
              <a:rPr lang="zh-CN" altLang="en-US" sz="1050" b="1" dirty="0">
                <a:solidFill>
                  <a:schemeClr val="tx1"/>
                </a:solidFill>
              </a:rPr>
              <a:t>角色：</a:t>
            </a:r>
            <a:r>
              <a:rPr lang="zh-CN" altLang="en-US" sz="1050" dirty="0">
                <a:solidFill>
                  <a:schemeClr val="tx1"/>
                </a:solidFill>
              </a:rPr>
              <a:t> 谁来做。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D (Details) - </a:t>
            </a:r>
            <a:r>
              <a:rPr lang="zh-CN" altLang="en-US" sz="1050" b="1" dirty="0">
                <a:solidFill>
                  <a:schemeClr val="tx1"/>
                </a:solidFill>
              </a:rPr>
              <a:t>细节：</a:t>
            </a:r>
            <a:r>
              <a:rPr lang="zh-CN" altLang="en-US" sz="1050" dirty="0">
                <a:solidFill>
                  <a:schemeClr val="tx1"/>
                </a:solidFill>
              </a:rPr>
              <a:t> 具体要求。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F (Format) - </a:t>
            </a:r>
            <a:r>
              <a:rPr lang="zh-CN" altLang="en-US" sz="1050" b="1" dirty="0">
                <a:solidFill>
                  <a:schemeClr val="tx1"/>
                </a:solidFill>
              </a:rPr>
              <a:t>格式：</a:t>
            </a:r>
            <a:r>
              <a:rPr lang="zh-CN" altLang="en-US" sz="1050" dirty="0">
                <a:solidFill>
                  <a:schemeClr val="tx1"/>
                </a:solidFill>
              </a:rPr>
              <a:t> 怎么呈现。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PM </a:t>
            </a:r>
            <a:r>
              <a:rPr lang="zh-CN" altLang="en-US" sz="1050" b="1" dirty="0">
                <a:solidFill>
                  <a:schemeClr val="tx1"/>
                </a:solidFill>
              </a:rPr>
              <a:t>场景示例（快速改文案）：</a:t>
            </a:r>
            <a:r>
              <a:rPr lang="zh-CN" altLang="en-US" sz="1050" dirty="0">
                <a:solidFill>
                  <a:schemeClr val="tx1"/>
                </a:solidFill>
              </a:rPr>
              <a:t> “</a:t>
            </a:r>
            <a:r>
              <a:rPr lang="en-US" altLang="zh-CN" sz="1050" b="1" dirty="0">
                <a:solidFill>
                  <a:schemeClr val="tx1"/>
                </a:solidFill>
              </a:rPr>
              <a:t>[Task]</a:t>
            </a:r>
            <a:r>
              <a:rPr lang="zh-CN" altLang="en-US" sz="1050" dirty="0">
                <a:solidFill>
                  <a:schemeClr val="tx1"/>
                </a:solidFill>
              </a:rPr>
              <a:t> 优化这句报错文案。</a:t>
            </a:r>
            <a:r>
              <a:rPr lang="en-US" altLang="zh-CN" sz="1050" b="1" dirty="0">
                <a:solidFill>
                  <a:schemeClr val="tx1"/>
                </a:solidFill>
              </a:rPr>
              <a:t>[Role]</a:t>
            </a:r>
            <a:r>
              <a:rPr lang="zh-CN" altLang="en-US" sz="1050" dirty="0">
                <a:solidFill>
                  <a:schemeClr val="tx1"/>
                </a:solidFill>
              </a:rPr>
              <a:t> 资深 </a:t>
            </a:r>
            <a:r>
              <a:rPr lang="en-US" altLang="zh-CN" sz="1050" dirty="0">
                <a:solidFill>
                  <a:schemeClr val="tx1"/>
                </a:solidFill>
              </a:rPr>
              <a:t>UX Writer</a:t>
            </a:r>
            <a:r>
              <a:rPr lang="zh-CN" altLang="en-US" sz="1050" dirty="0">
                <a:solidFill>
                  <a:schemeClr val="tx1"/>
                </a:solidFill>
              </a:rPr>
              <a:t>。</a:t>
            </a:r>
            <a:r>
              <a:rPr lang="en-US" altLang="zh-CN" sz="1050" b="1" dirty="0">
                <a:solidFill>
                  <a:schemeClr val="tx1"/>
                </a:solidFill>
              </a:rPr>
              <a:t>[Details]</a:t>
            </a:r>
            <a:r>
              <a:rPr lang="zh-CN" altLang="en-US" sz="1050" dirty="0">
                <a:solidFill>
                  <a:schemeClr val="tx1"/>
                </a:solidFill>
              </a:rPr>
              <a:t> 用户支付失败是因为余额不足，现在的文案太生硬。要求：温暖、给出解决方案。</a:t>
            </a:r>
            <a:r>
              <a:rPr lang="en-US" altLang="zh-CN" sz="1050" b="1" dirty="0">
                <a:solidFill>
                  <a:schemeClr val="tx1"/>
                </a:solidFill>
              </a:rPr>
              <a:t>[Format]</a:t>
            </a:r>
            <a:r>
              <a:rPr lang="zh-CN" altLang="en-US" sz="1050" dirty="0">
                <a:solidFill>
                  <a:schemeClr val="tx1"/>
                </a:solidFill>
              </a:rPr>
              <a:t> 提供三个不同版本的建议。”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9663081" y="21780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sz="1050" b="1" dirty="0">
                <a:solidFill>
                  <a:schemeClr val="tx1"/>
                </a:solidFill>
              </a:rPr>
              <a:t>核心点：</a:t>
            </a:r>
            <a:r>
              <a:rPr lang="zh-CN" altLang="en-US" sz="1050" dirty="0">
                <a:solidFill>
                  <a:schemeClr val="tx1"/>
                </a:solidFill>
              </a:rPr>
              <a:t> 强制 </a:t>
            </a:r>
            <a:r>
              <a:rPr lang="en-US" altLang="zh-CN" sz="1050" dirty="0">
                <a:solidFill>
                  <a:schemeClr val="tx1"/>
                </a:solidFill>
              </a:rPr>
              <a:t>AI “</a:t>
            </a:r>
            <a:r>
              <a:rPr lang="zh-CN" altLang="en-US" sz="1050" dirty="0">
                <a:solidFill>
                  <a:schemeClr val="tx1"/>
                </a:solidFill>
              </a:rPr>
              <a:t>一步步思考”，适用于</a:t>
            </a:r>
            <a:r>
              <a:rPr lang="zh-CN" altLang="en-US" sz="1050" b="1" dirty="0">
                <a:solidFill>
                  <a:schemeClr val="tx1"/>
                </a:solidFill>
              </a:rPr>
              <a:t>逻辑查漏、算法设计、需求分优先级</a:t>
            </a:r>
            <a:r>
              <a:rPr lang="zh-CN" altLang="en-US" sz="1050" dirty="0">
                <a:solidFill>
                  <a:schemeClr val="tx1"/>
                </a:solidFill>
              </a:rPr>
              <a:t>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zh-CN" altLang="en-US" sz="1050" b="1" dirty="0">
                <a:solidFill>
                  <a:schemeClr val="tx1"/>
                </a:solidFill>
              </a:rPr>
              <a:t>结构特点：</a:t>
            </a:r>
            <a:r>
              <a:rPr lang="zh-CN" altLang="en-US" sz="1050" dirty="0">
                <a:solidFill>
                  <a:schemeClr val="tx1"/>
                </a:solidFill>
              </a:rPr>
              <a:t> 在指令末尾加上一句魔法咒语：</a:t>
            </a:r>
            <a:r>
              <a:rPr lang="zh-CN" altLang="en-US" sz="1050" b="1" dirty="0">
                <a:solidFill>
                  <a:schemeClr val="tx1"/>
                </a:solidFill>
              </a:rPr>
              <a:t>“</a:t>
            </a:r>
            <a:r>
              <a:rPr lang="en-US" altLang="zh-CN" sz="1050" b="1" dirty="0">
                <a:solidFill>
                  <a:schemeClr val="tx1"/>
                </a:solidFill>
              </a:rPr>
              <a:t>Let's think step by step”</a:t>
            </a:r>
            <a:r>
              <a:rPr lang="zh-CN" altLang="en-US" sz="1050" b="1" dirty="0">
                <a:solidFill>
                  <a:schemeClr val="tx1"/>
                </a:solidFill>
              </a:rPr>
              <a:t>（让我们一步步思考）</a:t>
            </a:r>
            <a:r>
              <a:rPr lang="zh-CN" altLang="en-US" sz="1050" dirty="0">
                <a:solidFill>
                  <a:schemeClr val="tx1"/>
                </a:solidFill>
              </a:rPr>
              <a:t>，并要求 </a:t>
            </a:r>
            <a:r>
              <a:rPr lang="en-US" altLang="zh-CN" sz="1050" dirty="0">
                <a:solidFill>
                  <a:schemeClr val="tx1"/>
                </a:solidFill>
              </a:rPr>
              <a:t>AI </a:t>
            </a:r>
            <a:r>
              <a:rPr lang="zh-CN" altLang="en-US" sz="1050" dirty="0">
                <a:solidFill>
                  <a:schemeClr val="tx1"/>
                </a:solidFill>
              </a:rPr>
              <a:t>先写出思考过程。</a:t>
            </a:r>
            <a:endParaRPr lang="zh-CN" altLang="en-US" sz="1050" dirty="0">
              <a:solidFill>
                <a:schemeClr val="tx1"/>
              </a:solidFill>
            </a:endParaRPr>
          </a:p>
          <a:p>
            <a:r>
              <a:rPr lang="en-US" altLang="zh-CN" sz="1050" b="1" dirty="0">
                <a:solidFill>
                  <a:schemeClr val="tx1"/>
                </a:solidFill>
              </a:rPr>
              <a:t>PM </a:t>
            </a:r>
            <a:r>
              <a:rPr lang="zh-CN" altLang="en-US" sz="1050" b="1" dirty="0">
                <a:solidFill>
                  <a:schemeClr val="tx1"/>
                </a:solidFill>
              </a:rPr>
              <a:t>场景示例（逻辑审计）：</a:t>
            </a:r>
            <a:r>
              <a:rPr lang="zh-CN" altLang="en-US" sz="1050" dirty="0">
                <a:solidFill>
                  <a:schemeClr val="tx1"/>
                </a:solidFill>
              </a:rPr>
              <a:t> “我准备设计一个‘先挂号后付费’的流程，请指出其中的财务坏账风险。</a:t>
            </a:r>
            <a:r>
              <a:rPr lang="zh-CN" altLang="en-US" sz="1050" b="1" dirty="0">
                <a:solidFill>
                  <a:schemeClr val="tx1"/>
                </a:solidFill>
              </a:rPr>
              <a:t>请先分步骤分析</a:t>
            </a:r>
            <a:r>
              <a:rPr lang="zh-CN" altLang="en-US" sz="1050" dirty="0">
                <a:solidFill>
                  <a:schemeClr val="tx1"/>
                </a:solidFill>
              </a:rPr>
              <a:t>用户流转的每一个环节，</a:t>
            </a:r>
            <a:r>
              <a:rPr lang="zh-CN" altLang="en-US" sz="1050" b="1" dirty="0">
                <a:solidFill>
                  <a:schemeClr val="tx1"/>
                </a:solidFill>
              </a:rPr>
              <a:t>再总结</a:t>
            </a:r>
            <a:r>
              <a:rPr lang="zh-CN" altLang="en-US" sz="1050" dirty="0">
                <a:solidFill>
                  <a:schemeClr val="tx1"/>
                </a:solidFill>
              </a:rPr>
              <a:t>风险点，</a:t>
            </a:r>
            <a:r>
              <a:rPr lang="zh-CN" altLang="en-US" sz="1050" b="1" dirty="0">
                <a:solidFill>
                  <a:schemeClr val="tx1"/>
                </a:solidFill>
              </a:rPr>
              <a:t>最后给出</a:t>
            </a:r>
            <a:r>
              <a:rPr lang="zh-CN" altLang="en-US" sz="1050" dirty="0">
                <a:solidFill>
                  <a:schemeClr val="tx1"/>
                </a:solidFill>
              </a:rPr>
              <a:t>防御逻辑。</a:t>
            </a:r>
            <a:r>
              <a:rPr lang="zh-CN" altLang="en-US" sz="1050" b="1" dirty="0">
                <a:solidFill>
                  <a:schemeClr val="tx1"/>
                </a:solidFill>
              </a:rPr>
              <a:t>请一步步思考并详细列出推理过程。</a:t>
            </a:r>
            <a:r>
              <a:rPr lang="zh-CN" altLang="en-US" sz="1050" dirty="0">
                <a:solidFill>
                  <a:schemeClr val="tx1"/>
                </a:solidFill>
              </a:rPr>
              <a:t>”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273166" y="21780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lvl="1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角色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 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目标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】</a:t>
            </a:r>
            <a:r>
              <a:rPr lang="zh-CN" altLang="en-US" dirty="0">
                <a:solidFill>
                  <a:schemeClr val="tx1"/>
                </a:solidFill>
                <a:latin typeface="+mn-ea"/>
              </a:rPr>
              <a:t> 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提问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要求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】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273166" y="1428749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AutoShape 5"/>
          <p:cNvSpPr/>
          <p:nvPr/>
        </p:nvSpPr>
        <p:spPr>
          <a:xfrm>
            <a:off x="2620645" y="1428748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ICIO </a:t>
            </a:r>
            <a:r>
              <a:rPr lang="zh-CN" altLang="en-US" b="1">
                <a:solidFill>
                  <a:schemeClr val="tx1"/>
                </a:solidFill>
              </a:rPr>
              <a:t>架构：最适合“数据处理与文档生成”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0" name="AutoShape 5"/>
          <p:cNvSpPr/>
          <p:nvPr/>
        </p:nvSpPr>
        <p:spPr>
          <a:xfrm>
            <a:off x="4968124" y="1428747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CO-STAR </a:t>
            </a:r>
            <a:r>
              <a:rPr lang="zh-CN" altLang="en-US" b="1">
                <a:solidFill>
                  <a:schemeClr val="tx1"/>
                </a:solidFill>
              </a:rPr>
              <a:t>架构：最适合“战略思考与汇报沟通”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7315603" y="1428747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TRDF </a:t>
            </a:r>
            <a:r>
              <a:rPr lang="zh-CN" altLang="en-US" b="1">
                <a:solidFill>
                  <a:schemeClr val="tx1"/>
                </a:solidFill>
              </a:rPr>
              <a:t>架构：最适合“高频碎片化任务”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4" name="AutoShape 5"/>
          <p:cNvSpPr/>
          <p:nvPr/>
        </p:nvSpPr>
        <p:spPr>
          <a:xfrm>
            <a:off x="9663081" y="1428746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r>
              <a:rPr lang="zh-CN" altLang="en-US" b="1">
                <a:solidFill>
                  <a:schemeClr val="tx1"/>
                </a:solidFill>
              </a:rPr>
              <a:t>思维链 </a:t>
            </a:r>
            <a:r>
              <a:rPr lang="en-US" altLang="zh-CN" b="1">
                <a:solidFill>
                  <a:schemeClr val="tx1"/>
                </a:solidFill>
              </a:rPr>
              <a:t>(Chain of Thought, CoT) </a:t>
            </a:r>
            <a:r>
              <a:rPr lang="zh-CN" altLang="en-US" b="1">
                <a:solidFill>
                  <a:schemeClr val="tx1"/>
                </a:solidFill>
              </a:rPr>
              <a:t>架构：最适合“复杂逻辑推演”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1105209" y="3543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打造你的专属AI智能体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 (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Skills 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技能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Noto Sans SC"/>
              <a:ea typeface="Noto Sans SC"/>
            </a:endParaRPr>
          </a:p>
        </p:txBody>
      </p:sp>
      <p:cxnSp>
        <p:nvCxnSpPr>
          <p:cNvPr id="7" name="Connector 5"/>
          <p:cNvCxnSpPr/>
          <p:nvPr/>
        </p:nvCxnSpPr>
        <p:spPr>
          <a:xfrm rot="-3978">
            <a:off x="609600" y="121920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6"/>
          <p:cNvSpPr/>
          <p:nvPr/>
        </p:nvSpPr>
        <p:spPr>
          <a:xfrm>
            <a:off x="609596" y="153035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什么是AI智能体 (Skill)？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11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96" y="2139950"/>
            <a:ext cx="304800" cy="304800"/>
          </a:xfrm>
          <a:prstGeom prst="rect">
            <a:avLst/>
          </a:prstGeom>
        </p:spPr>
      </p:pic>
      <p:sp>
        <p:nvSpPr>
          <p:cNvPr id="12" name="AutoShape 8"/>
          <p:cNvSpPr/>
          <p:nvPr/>
        </p:nvSpPr>
        <p:spPr>
          <a:xfrm>
            <a:off x="1066796" y="2139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它不是对话框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1066796" y="24955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普通 AI 像路人，你每次都要重教背景。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96" y="3257550"/>
            <a:ext cx="304800" cy="304800"/>
          </a:xfrm>
          <a:prstGeom prst="rect">
            <a:avLst/>
          </a:prstGeom>
        </p:spPr>
      </p:pic>
      <p:sp>
        <p:nvSpPr>
          <p:cNvPr id="15" name="AutoShape 11"/>
          <p:cNvSpPr/>
          <p:nvPr/>
        </p:nvSpPr>
        <p:spPr>
          <a:xfrm>
            <a:off x="1066796" y="32575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它是你的“数字化分身”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7" name="AutoShape 12"/>
          <p:cNvSpPr/>
          <p:nvPr/>
        </p:nvSpPr>
        <p:spPr>
          <a:xfrm>
            <a:off x="1066796" y="36131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打包你的经验心法，在云端24小时为你工作。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18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596" y="4375150"/>
            <a:ext cx="304800" cy="304800"/>
          </a:xfrm>
          <a:prstGeom prst="rect">
            <a:avLst/>
          </a:prstGeom>
        </p:spPr>
      </p:pic>
      <p:sp>
        <p:nvSpPr>
          <p:cNvPr id="19" name="AutoShape 14"/>
          <p:cNvSpPr/>
          <p:nvPr/>
        </p:nvSpPr>
        <p:spPr>
          <a:xfrm>
            <a:off x="1066796" y="43751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0" name="AutoShape 15"/>
          <p:cNvSpPr/>
          <p:nvPr/>
        </p:nvSpPr>
        <p:spPr>
          <a:xfrm>
            <a:off x="1066796" y="47307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经验传承、效率倍增、质量稳定。</a:t>
            </a:r>
            <a:endParaRPr lang="en-US" sz="1100">
              <a:solidFill>
                <a:schemeClr val="tx1"/>
              </a:solidFill>
            </a:endParaRPr>
          </a:p>
        </p:txBody>
      </p:sp>
      <p:cxnSp>
        <p:nvCxnSpPr>
          <p:cNvPr id="21" name="Connector 16"/>
          <p:cNvCxnSpPr/>
          <p:nvPr/>
        </p:nvCxnSpPr>
        <p:spPr>
          <a:xfrm rot="5388386">
            <a:off x="4216396" y="340361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17"/>
          <p:cNvSpPr/>
          <p:nvPr/>
        </p:nvSpPr>
        <p:spPr>
          <a:xfrm>
            <a:off x="6502396" y="153035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配置AI智能体的四要素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23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2396" y="2139950"/>
            <a:ext cx="304800" cy="304800"/>
          </a:xfrm>
          <a:prstGeom prst="rect">
            <a:avLst/>
          </a:prstGeom>
        </p:spPr>
      </p:pic>
      <p:sp>
        <p:nvSpPr>
          <p:cNvPr id="24" name="AutoShape 19"/>
          <p:cNvSpPr/>
          <p:nvPr/>
        </p:nvSpPr>
        <p:spPr>
          <a:xfrm>
            <a:off x="6959596" y="2139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① 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定义身份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(Role) —— “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灵魂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5" name="AutoShape 20"/>
          <p:cNvSpPr/>
          <p:nvPr/>
        </p:nvSpPr>
        <p:spPr>
          <a:xfrm>
            <a:off x="6959596" y="24955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决定 AI 输出的专业深度和语气调性。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26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396" y="3155950"/>
            <a:ext cx="304800" cy="304800"/>
          </a:xfrm>
          <a:prstGeom prst="rect">
            <a:avLst/>
          </a:prstGeom>
        </p:spPr>
      </p:pic>
      <p:sp>
        <p:nvSpPr>
          <p:cNvPr id="27" name="AutoShape 22"/>
          <p:cNvSpPr/>
          <p:nvPr/>
        </p:nvSpPr>
        <p:spPr>
          <a:xfrm>
            <a:off x="6959596" y="3155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② 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喂入知识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(Knowledge) —— “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Wiki”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8" name="AutoShape 23"/>
          <p:cNvSpPr/>
          <p:nvPr/>
        </p:nvSpPr>
        <p:spPr>
          <a:xfrm>
            <a:off x="6959596" y="35115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拥有“私有记忆”，基于业务事实回答。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29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02396" y="4171950"/>
            <a:ext cx="304800" cy="304800"/>
          </a:xfrm>
          <a:prstGeom prst="rect">
            <a:avLst/>
          </a:prstGeom>
        </p:spPr>
      </p:pic>
      <p:sp>
        <p:nvSpPr>
          <p:cNvPr id="30" name="AutoShape 25"/>
          <p:cNvSpPr/>
          <p:nvPr/>
        </p:nvSpPr>
        <p:spPr>
          <a:xfrm>
            <a:off x="6959596" y="4171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③ 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赋予工具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(Capability) —— “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功能插件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1" name="AutoShape 26"/>
          <p:cNvSpPr/>
          <p:nvPr/>
        </p:nvSpPr>
        <p:spPr>
          <a:xfrm>
            <a:off x="6959596" y="452755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突破文字交流，让 AI 真正具备“办事能力”。</a:t>
            </a:r>
            <a:endParaRPr lang="en-US" sz="1100">
              <a:solidFill>
                <a:schemeClr val="tx1"/>
              </a:solidFill>
            </a:endParaRPr>
          </a:p>
        </p:txBody>
      </p:sp>
      <p:pic>
        <p:nvPicPr>
          <p:cNvPr id="32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02396" y="5187950"/>
            <a:ext cx="304800" cy="304800"/>
          </a:xfrm>
          <a:prstGeom prst="rect">
            <a:avLst/>
          </a:prstGeom>
        </p:spPr>
      </p:pic>
      <p:sp>
        <p:nvSpPr>
          <p:cNvPr id="33" name="AutoShape 28"/>
          <p:cNvSpPr/>
          <p:nvPr/>
        </p:nvSpPr>
        <p:spPr>
          <a:xfrm>
            <a:off x="6959596" y="518795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④ 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编排流程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(Workflow) —— “</a:t>
            </a:r>
            <a:r>
              <a:rPr lang="en-US" sz="16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业务流程图</a:t>
            </a:r>
            <a:r>
              <a:rPr lang="en-US" sz="16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1105209" y="3543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</a:rPr>
              <a:t>实战三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</a:rPr>
              <a:t>: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Skills 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技能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,PRD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文档与原型设计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50495" y="20002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zh-CN" b="1" dirty="0"/>
              <a:t>在</a:t>
            </a:r>
            <a:r>
              <a:rPr lang="en-US" altLang="zh-CN" b="1" dirty="0"/>
              <a:t>“</a:t>
            </a:r>
            <a:r>
              <a:rPr lang="zh-CN" altLang="zh-CN" b="1" dirty="0"/>
              <a:t>人设</a:t>
            </a:r>
            <a:r>
              <a:rPr lang="en-US" altLang="zh-CN" b="1" dirty="0"/>
              <a:t>/</a:t>
            </a:r>
            <a:r>
              <a:rPr lang="zh-CN" altLang="zh-CN" b="1" dirty="0"/>
              <a:t>指令</a:t>
            </a:r>
            <a:r>
              <a:rPr lang="en-US" altLang="zh-CN" b="1" dirty="0"/>
              <a:t>”</a:t>
            </a:r>
            <a:r>
              <a:rPr lang="zh-CN" altLang="zh-CN" b="1" dirty="0"/>
              <a:t>栏输入：</a:t>
            </a:r>
            <a:endParaRPr lang="zh-CN" altLang="zh-CN" dirty="0"/>
          </a:p>
          <a:p>
            <a:r>
              <a:rPr lang="zh-CN" altLang="zh-CN" dirty="0"/>
              <a:t>你是一位拥有</a:t>
            </a:r>
            <a:r>
              <a:rPr lang="en-US" altLang="zh-CN" dirty="0"/>
              <a:t>10</a:t>
            </a:r>
            <a:r>
              <a:rPr lang="zh-CN" altLang="zh-CN" dirty="0"/>
              <a:t>年经验、擅长大型复杂系统建模的</a:t>
            </a:r>
            <a:r>
              <a:rPr lang="zh-CN" altLang="zh-CN" b="1" dirty="0"/>
              <a:t>高级产品架构师</a:t>
            </a:r>
            <a:r>
              <a:rPr lang="zh-CN" altLang="zh-CN" dirty="0"/>
              <a:t>。 </a:t>
            </a:r>
            <a:endParaRPr lang="zh-CN" altLang="zh-CN" dirty="0"/>
          </a:p>
          <a:p>
            <a:r>
              <a:rPr lang="zh-CN" altLang="zh-CN" b="1" dirty="0"/>
              <a:t>核心任务：</a:t>
            </a:r>
            <a:r>
              <a:rPr lang="zh-CN" altLang="zh-CN" dirty="0"/>
              <a:t> 接收</a:t>
            </a:r>
            <a:r>
              <a:rPr lang="en-US" altLang="zh-CN" dirty="0"/>
              <a:t>PM</a:t>
            </a:r>
            <a:r>
              <a:rPr lang="zh-CN" altLang="zh-CN" dirty="0"/>
              <a:t>的原始功能点，自动输出结构化的《产品需求说明书》、基于</a:t>
            </a:r>
            <a:r>
              <a:rPr lang="en-US" altLang="zh-CN" dirty="0"/>
              <a:t>Mermaid</a:t>
            </a:r>
            <a:r>
              <a:rPr lang="zh-CN" altLang="zh-CN" dirty="0"/>
              <a:t>的《业务流程设计》以及《交互逻辑方案》。 </a:t>
            </a:r>
            <a:endParaRPr lang="zh-CN" altLang="zh-CN" dirty="0"/>
          </a:p>
          <a:p>
            <a:r>
              <a:rPr lang="zh-CN" altLang="zh-CN" b="1" dirty="0"/>
              <a:t>专业偏好：</a:t>
            </a:r>
            <a:r>
              <a:rPr lang="zh-CN" altLang="zh-CN" dirty="0"/>
              <a:t> 严格遵循</a:t>
            </a:r>
            <a:r>
              <a:rPr lang="en-US" altLang="zh-CN" dirty="0"/>
              <a:t> MECE </a:t>
            </a:r>
            <a:r>
              <a:rPr lang="zh-CN" altLang="zh-CN" dirty="0"/>
              <a:t>原则（不重不漏）；对异常流程（如并发冲突、网络超时、权限越权）极度敏感；输出语言要求精准、技术友好、无歧义。</a:t>
            </a:r>
            <a:endParaRPr lang="zh-CN" altLang="zh-CN" dirty="0"/>
          </a:p>
        </p:txBody>
      </p:sp>
      <p:sp>
        <p:nvSpPr>
          <p:cNvPr id="6" name="AutoShape 5"/>
          <p:cNvSpPr/>
          <p:nvPr/>
        </p:nvSpPr>
        <p:spPr>
          <a:xfrm>
            <a:off x="2497974" y="20002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zh-CN" b="1" dirty="0"/>
              <a:t>在</a:t>
            </a:r>
            <a:r>
              <a:rPr lang="en-US" altLang="zh-CN" b="1" dirty="0"/>
              <a:t>“</a:t>
            </a:r>
            <a:r>
              <a:rPr lang="zh-CN" altLang="zh-CN" b="1" dirty="0"/>
              <a:t>知识库</a:t>
            </a:r>
            <a:r>
              <a:rPr lang="en-US" altLang="zh-CN" b="1" dirty="0"/>
              <a:t>/</a:t>
            </a:r>
            <a:r>
              <a:rPr lang="zh-CN" altLang="zh-CN" b="1" dirty="0"/>
              <a:t>文件</a:t>
            </a:r>
            <a:r>
              <a:rPr lang="en-US" altLang="zh-CN" b="1" dirty="0"/>
              <a:t>”</a:t>
            </a:r>
            <a:r>
              <a:rPr lang="zh-CN" altLang="zh-CN" b="1" dirty="0"/>
              <a:t>栏上传以下参考文档：</a:t>
            </a:r>
            <a:endParaRPr lang="zh-CN" altLang="zh-CN" dirty="0"/>
          </a:p>
          <a:p>
            <a:r>
              <a:rPr lang="zh-CN" altLang="zh-CN" b="1" dirty="0"/>
              <a:t>《公司标准</a:t>
            </a:r>
            <a:r>
              <a:rPr lang="en-US" altLang="zh-CN" b="1" dirty="0"/>
              <a:t>PRD</a:t>
            </a:r>
            <a:r>
              <a:rPr lang="zh-CN" altLang="zh-CN" b="1" dirty="0"/>
              <a:t>模版</a:t>
            </a:r>
            <a:r>
              <a:rPr lang="en-US" altLang="zh-CN" b="1" dirty="0"/>
              <a:t>.md</a:t>
            </a:r>
            <a:r>
              <a:rPr lang="zh-CN" altLang="zh-CN" b="1" dirty="0"/>
              <a:t>》</a:t>
            </a:r>
            <a:r>
              <a:rPr lang="zh-CN" altLang="zh-CN" dirty="0"/>
              <a:t>：包含功能概述、业务规则、正常流程、异常处理、数据埋点、非功能性需求。</a:t>
            </a:r>
            <a:endParaRPr lang="zh-CN" altLang="zh-CN" dirty="0"/>
          </a:p>
          <a:p>
            <a:r>
              <a:rPr lang="zh-CN" altLang="zh-CN" b="1" dirty="0"/>
              <a:t>《业务异常逻辑库</a:t>
            </a:r>
            <a:r>
              <a:rPr lang="en-US" altLang="zh-CN" b="1" dirty="0"/>
              <a:t>.pdf</a:t>
            </a:r>
            <a:r>
              <a:rPr lang="zh-CN" altLang="zh-CN" b="1" dirty="0"/>
              <a:t>》</a:t>
            </a:r>
            <a:r>
              <a:rPr lang="zh-CN" altLang="zh-CN" dirty="0"/>
              <a:t>：整理常见的</a:t>
            </a:r>
            <a:r>
              <a:rPr lang="en-US" altLang="zh-CN" dirty="0"/>
              <a:t>“</a:t>
            </a:r>
            <a:r>
              <a:rPr lang="zh-CN" altLang="zh-CN" dirty="0"/>
              <a:t>脏数据、断网、未登录、多端冲突、审核拒绝</a:t>
            </a:r>
            <a:r>
              <a:rPr lang="en-US" altLang="zh-CN" dirty="0"/>
              <a:t>”</a:t>
            </a:r>
            <a:r>
              <a:rPr lang="zh-CN" altLang="zh-CN" dirty="0"/>
              <a:t>等通用处理逻辑。</a:t>
            </a:r>
            <a:endParaRPr lang="zh-CN" altLang="zh-CN" dirty="0"/>
          </a:p>
          <a:p>
            <a:r>
              <a:rPr lang="zh-CN" altLang="zh-CN" b="1" dirty="0"/>
              <a:t>《交互组件库规范》</a:t>
            </a:r>
            <a:r>
              <a:rPr lang="zh-CN" altLang="zh-CN" dirty="0"/>
              <a:t>：如</a:t>
            </a:r>
            <a:r>
              <a:rPr lang="en-US" altLang="zh-CN" dirty="0"/>
              <a:t> Ant Design </a:t>
            </a:r>
            <a:r>
              <a:rPr lang="zh-CN" altLang="zh-CN" dirty="0"/>
              <a:t>或公司自研</a:t>
            </a:r>
            <a:r>
              <a:rPr lang="en-US" altLang="zh-CN" dirty="0"/>
              <a:t> UI </a:t>
            </a:r>
            <a:r>
              <a:rPr lang="zh-CN" altLang="zh-CN" dirty="0"/>
              <a:t>组件的逻辑说明（例如：什么时候用抽屉，什么时候用弹窗）。</a:t>
            </a:r>
            <a:endParaRPr lang="zh-CN" altLang="zh-CN" dirty="0"/>
          </a:p>
        </p:txBody>
      </p:sp>
      <p:sp>
        <p:nvSpPr>
          <p:cNvPr id="9" name="AutoShape 5"/>
          <p:cNvSpPr/>
          <p:nvPr/>
        </p:nvSpPr>
        <p:spPr>
          <a:xfrm>
            <a:off x="4845453" y="20002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zh-CN" b="1" dirty="0"/>
              <a:t>联网搜索</a:t>
            </a:r>
            <a:r>
              <a:rPr lang="en-US" altLang="zh-CN" b="1" dirty="0"/>
              <a:t> (Google/Bing)</a:t>
            </a:r>
            <a:r>
              <a:rPr lang="zh-CN" altLang="zh-CN" b="1" dirty="0"/>
              <a:t>：</a:t>
            </a:r>
            <a:r>
              <a:rPr lang="zh-CN" altLang="zh-CN" dirty="0"/>
              <a:t> 用于在生成需求时对比同类竞品的通用做法。</a:t>
            </a:r>
            <a:endParaRPr lang="zh-CN" altLang="zh-CN" dirty="0"/>
          </a:p>
          <a:p>
            <a:r>
              <a:rPr lang="en-US" altLang="zh-CN" b="1" dirty="0"/>
              <a:t>Mermaid </a:t>
            </a:r>
            <a:r>
              <a:rPr lang="zh-CN" altLang="zh-CN" b="1" dirty="0"/>
              <a:t>绘图插件：</a:t>
            </a:r>
            <a:r>
              <a:rPr lang="zh-CN" altLang="zh-CN" dirty="0"/>
              <a:t> 用于将逻辑一键转化为流程图、时序图或状态机图。</a:t>
            </a:r>
            <a:endParaRPr lang="zh-CN" altLang="zh-CN" dirty="0"/>
          </a:p>
          <a:p>
            <a:r>
              <a:rPr lang="zh-CN" altLang="zh-CN" b="1" dirty="0"/>
              <a:t>代码解释器：</a:t>
            </a:r>
            <a:r>
              <a:rPr lang="zh-CN" altLang="zh-CN" dirty="0"/>
              <a:t> 用于在处理复杂数据指标需求时进行计算逻辑验证。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7192931" y="20002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zh-CN" sz="1100" b="1" dirty="0"/>
              <a:t>节点</a:t>
            </a:r>
            <a:r>
              <a:rPr lang="en-US" altLang="zh-CN" sz="1100" b="1" dirty="0"/>
              <a:t> 1</a:t>
            </a:r>
            <a:r>
              <a:rPr lang="zh-CN" altLang="zh-CN" sz="1100" b="1" dirty="0"/>
              <a:t>：需求解析与扩展</a:t>
            </a:r>
            <a:endParaRPr lang="zh-CN" altLang="zh-CN" sz="1100" dirty="0"/>
          </a:p>
          <a:p>
            <a:r>
              <a:rPr lang="zh-CN" altLang="zh-CN" sz="1100" b="1" dirty="0"/>
              <a:t>动作：</a:t>
            </a:r>
            <a:r>
              <a:rPr lang="zh-CN" altLang="zh-CN" sz="1100" dirty="0"/>
              <a:t> 提取</a:t>
            </a:r>
            <a:r>
              <a:rPr lang="en-US" altLang="zh-CN" sz="1100" dirty="0"/>
              <a:t>PM</a:t>
            </a:r>
            <a:r>
              <a:rPr lang="zh-CN" altLang="zh-CN" sz="1100" dirty="0"/>
              <a:t>输入的关键词。利用</a:t>
            </a:r>
            <a:r>
              <a:rPr lang="en-US" altLang="zh-CN" sz="1100" dirty="0"/>
              <a:t> AI </a:t>
            </a:r>
            <a:r>
              <a:rPr lang="zh-CN" altLang="zh-CN" sz="1100" dirty="0"/>
              <a:t>发散思维，按用户、场景、任务维度将需求拆解为：功能模块清单。</a:t>
            </a:r>
            <a:endParaRPr lang="zh-CN" altLang="zh-CN" sz="1100" dirty="0"/>
          </a:p>
          <a:p>
            <a:r>
              <a:rPr lang="zh-CN" altLang="zh-CN" sz="1100" b="1" dirty="0"/>
              <a:t>节点</a:t>
            </a:r>
            <a:r>
              <a:rPr lang="en-US" altLang="zh-CN" sz="1100" b="1" dirty="0"/>
              <a:t> 2</a:t>
            </a:r>
            <a:r>
              <a:rPr lang="zh-CN" altLang="zh-CN" sz="1100" b="1" dirty="0"/>
              <a:t>：业务流程设计</a:t>
            </a:r>
            <a:r>
              <a:rPr lang="en-US" altLang="zh-CN" sz="1100" b="1" dirty="0"/>
              <a:t> (Flowchart)</a:t>
            </a:r>
            <a:endParaRPr lang="zh-CN" altLang="zh-CN" sz="1100" dirty="0"/>
          </a:p>
          <a:p>
            <a:r>
              <a:rPr lang="zh-CN" altLang="zh-CN" sz="1100" b="1" dirty="0"/>
              <a:t>动作：</a:t>
            </a:r>
            <a:r>
              <a:rPr lang="zh-CN" altLang="zh-CN" sz="1100" dirty="0"/>
              <a:t> 根据拆解的功能，自动编写</a:t>
            </a:r>
            <a:r>
              <a:rPr lang="en-US" altLang="zh-CN" sz="1100" dirty="0"/>
              <a:t> Mermaid </a:t>
            </a:r>
            <a:r>
              <a:rPr lang="zh-CN" altLang="zh-CN" sz="1100" dirty="0"/>
              <a:t>代码。</a:t>
            </a:r>
            <a:endParaRPr lang="zh-CN" altLang="zh-CN" sz="1100" dirty="0"/>
          </a:p>
          <a:p>
            <a:r>
              <a:rPr lang="zh-CN" altLang="zh-CN" sz="1100" b="1" dirty="0"/>
              <a:t>输出：</a:t>
            </a:r>
            <a:r>
              <a:rPr lang="zh-CN" altLang="zh-CN" sz="1100" dirty="0"/>
              <a:t> 生成业务主流程图（</a:t>
            </a:r>
            <a:r>
              <a:rPr lang="en-US" altLang="zh-CN" sz="1100" dirty="0"/>
              <a:t>Happy Path</a:t>
            </a:r>
            <a:r>
              <a:rPr lang="zh-CN" altLang="zh-CN" sz="1100" dirty="0"/>
              <a:t>）和异常分支流程图。</a:t>
            </a:r>
            <a:endParaRPr lang="zh-CN" altLang="zh-CN" sz="1100" dirty="0"/>
          </a:p>
          <a:p>
            <a:r>
              <a:rPr lang="zh-CN" altLang="zh-CN" sz="1100" b="1" dirty="0"/>
              <a:t>节点</a:t>
            </a:r>
            <a:r>
              <a:rPr lang="en-US" altLang="zh-CN" sz="1100" b="1" dirty="0"/>
              <a:t> 3</a:t>
            </a:r>
            <a:r>
              <a:rPr lang="zh-CN" altLang="zh-CN" sz="1100" b="1" dirty="0"/>
              <a:t>：需求详述填充</a:t>
            </a:r>
            <a:r>
              <a:rPr lang="en-US" altLang="zh-CN" sz="1100" b="1" dirty="0"/>
              <a:t> (PRD)</a:t>
            </a:r>
            <a:endParaRPr lang="zh-CN" altLang="zh-CN" sz="1100" dirty="0"/>
          </a:p>
          <a:p>
            <a:r>
              <a:rPr lang="zh-CN" altLang="zh-CN" sz="1100" b="1" dirty="0"/>
              <a:t>动作：</a:t>
            </a:r>
            <a:r>
              <a:rPr lang="zh-CN" altLang="zh-CN" sz="1100" dirty="0"/>
              <a:t> 匹配知识库中的标准模版。</a:t>
            </a:r>
            <a:endParaRPr lang="zh-CN" altLang="zh-CN" sz="1100" dirty="0"/>
          </a:p>
          <a:p>
            <a:r>
              <a:rPr lang="zh-CN" altLang="zh-CN" sz="1100" b="1" dirty="0"/>
              <a:t>输出：</a:t>
            </a:r>
            <a:r>
              <a:rPr lang="zh-CN" altLang="zh-CN" sz="1100" dirty="0"/>
              <a:t> 撰写业务规则（例如：输入校验、计算公式）、异常处理逻辑、非功能需求。</a:t>
            </a:r>
            <a:endParaRPr lang="zh-CN" altLang="zh-CN" sz="1100" dirty="0"/>
          </a:p>
          <a:p>
            <a:r>
              <a:rPr lang="zh-CN" altLang="zh-CN" sz="1100" b="1" dirty="0"/>
              <a:t>节点</a:t>
            </a:r>
            <a:r>
              <a:rPr lang="en-US" altLang="zh-CN" sz="1100" b="1" dirty="0"/>
              <a:t> 4</a:t>
            </a:r>
            <a:r>
              <a:rPr lang="zh-CN" altLang="zh-CN" sz="1100" b="1" dirty="0"/>
              <a:t>：交互方案与组件建议</a:t>
            </a:r>
            <a:endParaRPr lang="zh-CN" altLang="zh-CN" sz="1100" dirty="0"/>
          </a:p>
          <a:p>
            <a:r>
              <a:rPr lang="zh-CN" altLang="zh-CN" sz="1100" b="1" dirty="0"/>
              <a:t>动作：</a:t>
            </a:r>
            <a:r>
              <a:rPr lang="zh-CN" altLang="zh-CN" sz="1100" dirty="0"/>
              <a:t> 识别页面操作频次。</a:t>
            </a:r>
            <a:endParaRPr lang="zh-CN" altLang="zh-CN" sz="1100" dirty="0"/>
          </a:p>
          <a:p>
            <a:r>
              <a:rPr lang="zh-CN" altLang="zh-CN" sz="1100" b="1" dirty="0"/>
              <a:t>输出：</a:t>
            </a:r>
            <a:r>
              <a:rPr lang="zh-CN" altLang="zh-CN" sz="1100" dirty="0"/>
              <a:t> 建议页面布局（如：左中右结构），列出核心</a:t>
            </a:r>
            <a:r>
              <a:rPr lang="en-US" altLang="zh-CN" sz="1100" dirty="0"/>
              <a:t> UI </a:t>
            </a:r>
            <a:r>
              <a:rPr lang="zh-CN" altLang="zh-CN" sz="1100" dirty="0"/>
              <a:t>组件清单（如：</a:t>
            </a:r>
            <a:r>
              <a:rPr lang="en-US" altLang="zh-CN" sz="1100" dirty="0" err="1"/>
              <a:t>InputNumber</a:t>
            </a:r>
            <a:r>
              <a:rPr lang="en-US" altLang="zh-CN" sz="1100" dirty="0"/>
              <a:t> </a:t>
            </a:r>
            <a:r>
              <a:rPr lang="zh-CN" altLang="zh-CN" sz="1100" dirty="0"/>
              <a:t>需限制正整数），并描述交互触发后的即时反馈（如：加载动画、</a:t>
            </a:r>
            <a:r>
              <a:rPr lang="en-US" altLang="zh-CN" sz="1100" dirty="0"/>
              <a:t>Toast </a:t>
            </a:r>
            <a:r>
              <a:rPr lang="zh-CN" altLang="zh-CN" sz="1100" dirty="0"/>
              <a:t>提示）。</a:t>
            </a:r>
            <a:endParaRPr lang="zh-CN" altLang="zh-CN" sz="1100" dirty="0"/>
          </a:p>
        </p:txBody>
      </p:sp>
      <p:sp>
        <p:nvSpPr>
          <p:cNvPr id="16" name="AutoShape 5"/>
          <p:cNvSpPr/>
          <p:nvPr/>
        </p:nvSpPr>
        <p:spPr>
          <a:xfrm>
            <a:off x="150495" y="1250948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定义身份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(Role)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2497974" y="1250947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喂入知识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(Knowledge)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" name="AutoShape 5"/>
          <p:cNvSpPr/>
          <p:nvPr/>
        </p:nvSpPr>
        <p:spPr>
          <a:xfrm>
            <a:off x="4845453" y="1250947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赋予工具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(Capability)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6" name="AutoShape 5"/>
          <p:cNvSpPr/>
          <p:nvPr/>
        </p:nvSpPr>
        <p:spPr>
          <a:xfrm>
            <a:off x="7192931" y="1250946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编排流程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(Workflow)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9540408" y="20002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/>
            <a:r>
              <a:rPr lang="zh-CN" altLang="en-US" sz="1200" b="1" dirty="0"/>
              <a:t>正常使用</a:t>
            </a:r>
            <a:endParaRPr lang="zh-CN" altLang="zh-CN" sz="1200" dirty="0"/>
          </a:p>
        </p:txBody>
      </p:sp>
      <p:sp>
        <p:nvSpPr>
          <p:cNvPr id="38" name="AutoShape 5"/>
          <p:cNvSpPr/>
          <p:nvPr/>
        </p:nvSpPr>
        <p:spPr>
          <a:xfrm>
            <a:off x="9540408" y="1250946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zh-CN" altLang="zh-CN" b="1" dirty="0"/>
              <a:t>调试与演示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1105209" y="354361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</a:rPr>
              <a:t>实战四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</a:rPr>
              <a:t>: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Skills 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技能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数据分析和项目汇报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3" name="AutoShape 5"/>
          <p:cNvSpPr/>
          <p:nvPr/>
        </p:nvSpPr>
        <p:spPr>
          <a:xfrm>
            <a:off x="150495" y="2000250"/>
            <a:ext cx="2281555" cy="6711950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dirty="0"/>
              <a:t>定义身份</a:t>
            </a:r>
            <a:r>
              <a:rPr lang="en-US" altLang="zh-CN" dirty="0"/>
              <a:t> (Role)</a:t>
            </a:r>
            <a:endParaRPr lang="en-US" altLang="zh-CN" dirty="0"/>
          </a:p>
          <a:p>
            <a:r>
              <a:rPr lang="zh-CN" altLang="en-US" dirty="0"/>
              <a:t>核心思路：不仅要是分析师，还要是</a:t>
            </a:r>
            <a:r>
              <a:rPr lang="en-US" altLang="zh-CN" dirty="0"/>
              <a:t>“</a:t>
            </a:r>
            <a:r>
              <a:rPr lang="zh-CN" altLang="en-US" dirty="0"/>
              <a:t>讲故事的人</a:t>
            </a:r>
            <a:r>
              <a:rPr lang="en-US" altLang="zh-CN" dirty="0"/>
              <a:t>”</a:t>
            </a:r>
            <a:r>
              <a:rPr lang="zh-CN" altLang="en-US" dirty="0"/>
              <a:t>，强调从数据中提取观点，而不仅仅是罗列数字。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人设指令：你是一位拥有</a:t>
            </a:r>
            <a:r>
              <a:rPr lang="en-US" altLang="zh-CN" dirty="0"/>
              <a:t> 8 </a:t>
            </a:r>
            <a:r>
              <a:rPr lang="zh-CN" altLang="en-US" dirty="0"/>
              <a:t>年经验的高级商业数据分析师，擅长通过数据洞察驱动业务决策。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核心任务：接收用户上传的原始数据（</a:t>
            </a:r>
            <a:r>
              <a:rPr lang="en-US" altLang="zh-CN" dirty="0"/>
              <a:t>Excel/CSV</a:t>
            </a:r>
            <a:r>
              <a:rPr lang="zh-CN" altLang="en-US" dirty="0"/>
              <a:t>），进行清洗、探索性分析，并输出图文并茂的《项目复盘</a:t>
            </a:r>
            <a:r>
              <a:rPr lang="en-US" altLang="zh-CN" dirty="0"/>
              <a:t>/</a:t>
            </a:r>
            <a:r>
              <a:rPr lang="zh-CN" altLang="en-US" dirty="0"/>
              <a:t>经营分析报告》。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风格要求：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客观严谨：所有计算必须通过</a:t>
            </a:r>
            <a:r>
              <a:rPr lang="en-US" altLang="zh-CN" dirty="0"/>
              <a:t> Python </a:t>
            </a:r>
            <a:r>
              <a:rPr lang="zh-CN" altLang="en-US" dirty="0"/>
              <a:t>代码执行，禁止估算。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金字塔原理：结论先行，先说核心洞察，再展示数据支撑。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可视化叙事：能用图表说明的绝不用文字堆砌。</a:t>
            </a:r>
            <a:endParaRPr lang="zh-CN" altLang="en-US" dirty="0"/>
          </a:p>
        </p:txBody>
      </p:sp>
      <p:sp>
        <p:nvSpPr>
          <p:cNvPr id="4" name="AutoShape 5"/>
          <p:cNvSpPr/>
          <p:nvPr/>
        </p:nvSpPr>
        <p:spPr>
          <a:xfrm>
            <a:off x="2498090" y="2000250"/>
            <a:ext cx="2281555" cy="8421370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喂入知识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(Knowledge)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核心变化：增加了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知识缺省时的引导策略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，让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Agent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更灵活，不因为缺文档就罢工。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标准知识库（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Standard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）：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《公司数据指标字典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.md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》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《分析报告文字模板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.txt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》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《金字塔原理与数据叙事指南》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动态引导策略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(Fallback Strategy)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模板反查机制：如果知识库中检测不到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分析模板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或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参考案例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Agent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必须在对话中主动询问用户：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您是否需要参照特定的汇报格式？请上传一个您觉得不错的过往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 PPT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或文档作为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‘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模仿对象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’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One-shot Learning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）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风格库索引：预置《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PPT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风格与配色规范》，包含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商务蓝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科技黑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“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极简白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”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三种预设风格的代码配置。</a:t>
            </a:r>
            <a:endParaRPr lang="zh-CN" altLang="en-US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5" name="AutoShape 5"/>
          <p:cNvSpPr/>
          <p:nvPr/>
        </p:nvSpPr>
        <p:spPr>
          <a:xfrm>
            <a:off x="4845685" y="2000250"/>
            <a:ext cx="2281555" cy="8421370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sz="1100" dirty="0">
                <a:solidFill>
                  <a:schemeClr val="tx1"/>
                </a:solidFill>
              </a:rPr>
              <a:t>赋予工具</a:t>
            </a:r>
            <a:r>
              <a:rPr lang="en-US" altLang="zh-CN" sz="1100" dirty="0">
                <a:solidFill>
                  <a:schemeClr val="tx1"/>
                </a:solidFill>
              </a:rPr>
              <a:t> (Capability)</a:t>
            </a:r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核心思路：数据分析</a:t>
            </a:r>
            <a:r>
              <a:rPr lang="en-US" altLang="zh-CN" sz="1100" dirty="0">
                <a:solidFill>
                  <a:schemeClr val="tx1"/>
                </a:solidFill>
              </a:rPr>
              <a:t> </a:t>
            </a:r>
            <a:r>
              <a:rPr lang="zh-CN" altLang="en-US" sz="1100" dirty="0">
                <a:solidFill>
                  <a:schemeClr val="tx1"/>
                </a:solidFill>
              </a:rPr>
              <a:t>必须</a:t>
            </a:r>
            <a:r>
              <a:rPr lang="en-US" altLang="zh-CN" sz="1100" dirty="0">
                <a:solidFill>
                  <a:schemeClr val="tx1"/>
                </a:solidFill>
              </a:rPr>
              <a:t> </a:t>
            </a:r>
            <a:r>
              <a:rPr lang="zh-CN" altLang="en-US" sz="1100" dirty="0">
                <a:solidFill>
                  <a:schemeClr val="tx1"/>
                </a:solidFill>
              </a:rPr>
              <a:t>依赖代码解释器，否则大模型直接做数学题会出错（幻觉）。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代码解释器</a:t>
            </a:r>
            <a:r>
              <a:rPr lang="en-US" altLang="zh-CN" sz="1100" dirty="0">
                <a:solidFill>
                  <a:schemeClr val="tx1"/>
                </a:solidFill>
              </a:rPr>
              <a:t> (Code Interpreter / Python</a:t>
            </a:r>
            <a:r>
              <a:rPr lang="zh-CN" altLang="en-US" sz="1100" dirty="0">
                <a:solidFill>
                  <a:schemeClr val="tx1"/>
                </a:solidFill>
              </a:rPr>
              <a:t>沙箱</a:t>
            </a:r>
            <a:r>
              <a:rPr lang="en-US" altLang="zh-CN" sz="1100" dirty="0">
                <a:solidFill>
                  <a:schemeClr val="tx1"/>
                </a:solidFill>
              </a:rPr>
              <a:t>)</a:t>
            </a:r>
            <a:r>
              <a:rPr lang="zh-CN" altLang="en-US" sz="1100" dirty="0">
                <a:solidFill>
                  <a:schemeClr val="tx1"/>
                </a:solidFill>
              </a:rPr>
              <a:t>：（最重要）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用于加载</a:t>
            </a:r>
            <a:r>
              <a:rPr lang="en-US" altLang="zh-CN" sz="1100" dirty="0">
                <a:solidFill>
                  <a:schemeClr val="tx1"/>
                </a:solidFill>
              </a:rPr>
              <a:t> Excel/CSV </a:t>
            </a:r>
            <a:r>
              <a:rPr lang="zh-CN" altLang="en-US" sz="1100" dirty="0">
                <a:solidFill>
                  <a:schemeClr val="tx1"/>
                </a:solidFill>
              </a:rPr>
              <a:t>文件。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使用</a:t>
            </a:r>
            <a:r>
              <a:rPr lang="en-US" altLang="zh-CN" sz="1100" dirty="0">
                <a:solidFill>
                  <a:schemeClr val="tx1"/>
                </a:solidFill>
              </a:rPr>
              <a:t> Pandas </a:t>
            </a:r>
            <a:r>
              <a:rPr lang="zh-CN" altLang="en-US" sz="1100" dirty="0">
                <a:solidFill>
                  <a:schemeClr val="tx1"/>
                </a:solidFill>
              </a:rPr>
              <a:t>进行数据清洗、透视和聚合计算。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使用</a:t>
            </a:r>
            <a:r>
              <a:rPr lang="en-US" altLang="zh-CN" sz="1100" dirty="0">
                <a:solidFill>
                  <a:schemeClr val="tx1"/>
                </a:solidFill>
              </a:rPr>
              <a:t> Matplotlib / Seaborn </a:t>
            </a:r>
            <a:r>
              <a:rPr lang="zh-CN" altLang="en-US" sz="1100" dirty="0">
                <a:solidFill>
                  <a:schemeClr val="tx1"/>
                </a:solidFill>
              </a:rPr>
              <a:t>绘制专业统计图表。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联网搜索</a:t>
            </a:r>
            <a:r>
              <a:rPr lang="en-US" altLang="zh-CN" sz="1100" dirty="0">
                <a:solidFill>
                  <a:schemeClr val="tx1"/>
                </a:solidFill>
              </a:rPr>
              <a:t> (Google/Bing)</a:t>
            </a:r>
            <a:r>
              <a:rPr lang="zh-CN" altLang="en-US" sz="1100" dirty="0">
                <a:solidFill>
                  <a:schemeClr val="tx1"/>
                </a:solidFill>
              </a:rPr>
              <a:t>：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用于查找</a:t>
            </a:r>
            <a:r>
              <a:rPr lang="en-US" altLang="zh-CN" sz="1100" dirty="0">
                <a:solidFill>
                  <a:schemeClr val="tx1"/>
                </a:solidFill>
              </a:rPr>
              <a:t>**</a:t>
            </a:r>
            <a:r>
              <a:rPr lang="zh-CN" altLang="en-US" sz="1100" dirty="0">
                <a:solidFill>
                  <a:schemeClr val="tx1"/>
                </a:solidFill>
              </a:rPr>
              <a:t>行业基准数据（</a:t>
            </a:r>
            <a:r>
              <a:rPr lang="en-US" altLang="zh-CN" sz="1100" dirty="0">
                <a:solidFill>
                  <a:schemeClr val="tx1"/>
                </a:solidFill>
              </a:rPr>
              <a:t>Benchmark</a:t>
            </a:r>
            <a:r>
              <a:rPr lang="zh-CN" altLang="en-US" sz="1100" dirty="0">
                <a:solidFill>
                  <a:schemeClr val="tx1"/>
                </a:solidFill>
              </a:rPr>
              <a:t>）</a:t>
            </a:r>
            <a:r>
              <a:rPr lang="en-US" altLang="zh-CN" sz="1100" dirty="0">
                <a:solidFill>
                  <a:schemeClr val="tx1"/>
                </a:solidFill>
              </a:rPr>
              <a:t>**</a:t>
            </a:r>
            <a:r>
              <a:rPr lang="zh-CN" altLang="en-US" sz="1100" dirty="0">
                <a:solidFill>
                  <a:schemeClr val="tx1"/>
                </a:solidFill>
              </a:rPr>
              <a:t>或竞品公开数据，以便进行对比分析。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文件读取</a:t>
            </a:r>
            <a:r>
              <a:rPr lang="en-US" altLang="zh-CN" sz="1100" dirty="0">
                <a:solidFill>
                  <a:schemeClr val="tx1"/>
                </a:solidFill>
              </a:rPr>
              <a:t> (File Upload)</a:t>
            </a:r>
            <a:r>
              <a:rPr lang="zh-CN" altLang="en-US" sz="1100" dirty="0">
                <a:solidFill>
                  <a:schemeClr val="tx1"/>
                </a:solidFill>
              </a:rPr>
              <a:t>：</a:t>
            </a:r>
            <a:endParaRPr lang="zh-CN" altLang="en-US" sz="1100" dirty="0">
              <a:solidFill>
                <a:schemeClr val="tx1"/>
              </a:solidFill>
            </a:endParaRPr>
          </a:p>
          <a:p>
            <a:endParaRPr lang="en-US" altLang="zh-CN" sz="1100" dirty="0">
              <a:solidFill>
                <a:schemeClr val="tx1"/>
              </a:solidFill>
            </a:endParaRPr>
          </a:p>
          <a:p>
            <a:r>
              <a:rPr lang="zh-CN" altLang="en-US" sz="1100" dirty="0">
                <a:solidFill>
                  <a:schemeClr val="tx1"/>
                </a:solidFill>
              </a:rPr>
              <a:t>允许用户上传本地数据表。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7192645" y="2000250"/>
            <a:ext cx="2281555" cy="8780145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r>
              <a:rPr lang="zh-CN" altLang="en-US" sz="1100" dirty="0"/>
              <a:t>编排流程</a:t>
            </a:r>
            <a:r>
              <a:rPr lang="en-US" altLang="zh-CN" sz="1100" dirty="0"/>
              <a:t> (Workflow)</a:t>
            </a:r>
            <a:endParaRPr lang="en-US" altLang="zh-CN" sz="1100" dirty="0"/>
          </a:p>
          <a:p>
            <a:r>
              <a:rPr lang="zh-CN" altLang="en-US" sz="1100" dirty="0"/>
              <a:t>核心变化：针对</a:t>
            </a:r>
            <a:r>
              <a:rPr lang="en-US" altLang="zh-CN" sz="1100" dirty="0"/>
              <a:t> PPT </a:t>
            </a:r>
            <a:r>
              <a:rPr lang="zh-CN" altLang="en-US" sz="1100" dirty="0"/>
              <a:t>生成场景，增加了</a:t>
            </a:r>
            <a:r>
              <a:rPr lang="en-US" altLang="zh-CN" sz="1100" dirty="0"/>
              <a:t>“</a:t>
            </a:r>
            <a:r>
              <a:rPr lang="zh-CN" altLang="en-US" sz="1100" dirty="0"/>
              <a:t>样式调用</a:t>
            </a:r>
            <a:r>
              <a:rPr lang="en-US" altLang="zh-CN" sz="1100" dirty="0"/>
              <a:t>”</a:t>
            </a:r>
            <a:r>
              <a:rPr lang="zh-CN" altLang="en-US" sz="1100" dirty="0"/>
              <a:t>和</a:t>
            </a:r>
            <a:r>
              <a:rPr lang="en-US" altLang="zh-CN" sz="1100" dirty="0"/>
              <a:t>“</a:t>
            </a:r>
            <a:r>
              <a:rPr lang="zh-CN" altLang="en-US" sz="1100" dirty="0"/>
              <a:t>全文通读（质检）</a:t>
            </a:r>
            <a:r>
              <a:rPr lang="en-US" altLang="zh-CN" sz="1100" dirty="0"/>
              <a:t>”</a:t>
            </a:r>
            <a:r>
              <a:rPr lang="zh-CN" altLang="en-US" sz="1100" dirty="0"/>
              <a:t>的环节。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节点</a:t>
            </a:r>
            <a:r>
              <a:rPr lang="en-US" altLang="zh-CN" sz="1100" dirty="0"/>
              <a:t> 1 &amp; 2</a:t>
            </a:r>
            <a:r>
              <a:rPr lang="zh-CN" altLang="en-US" sz="1100" dirty="0"/>
              <a:t>：数据处理（不变）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数据体检</a:t>
            </a:r>
            <a:r>
              <a:rPr lang="en-US" altLang="zh-CN" sz="1100" dirty="0"/>
              <a:t> -&gt; </a:t>
            </a:r>
            <a:r>
              <a:rPr lang="zh-CN" altLang="en-US" sz="1100" dirty="0"/>
              <a:t>清洗计算。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en-US" altLang="zh-CN" sz="1100" dirty="0"/>
              <a:t>&lt;</a:t>
            </a:r>
            <a:r>
              <a:rPr lang="zh-CN" altLang="en-US" sz="1100" dirty="0"/>
              <a:t>新增</a:t>
            </a:r>
            <a:r>
              <a:rPr lang="en-US" altLang="zh-CN" sz="1100" dirty="0"/>
              <a:t>&gt; </a:t>
            </a:r>
            <a:r>
              <a:rPr lang="zh-CN" altLang="en-US" sz="1100" dirty="0"/>
              <a:t>节点</a:t>
            </a:r>
            <a:r>
              <a:rPr lang="en-US" altLang="zh-CN" sz="1100" dirty="0"/>
              <a:t> 3</a:t>
            </a:r>
            <a:r>
              <a:rPr lang="zh-CN" altLang="en-US" sz="1100" dirty="0"/>
              <a:t>：</a:t>
            </a:r>
            <a:r>
              <a:rPr lang="en-US" altLang="zh-CN" sz="1100" dirty="0"/>
              <a:t>PPT </a:t>
            </a:r>
            <a:r>
              <a:rPr lang="zh-CN" altLang="en-US" sz="1100" dirty="0"/>
              <a:t>结构化与风格匹配</a:t>
            </a:r>
            <a:r>
              <a:rPr lang="en-US" altLang="zh-CN" sz="1100" dirty="0"/>
              <a:t> (Structuring &amp; Styling)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zh-CN" altLang="en-US" sz="1100" dirty="0"/>
              <a:t>判断分支：识别用户意图。如果是</a:t>
            </a:r>
            <a:r>
              <a:rPr lang="en-US" altLang="zh-CN" sz="1100" dirty="0"/>
              <a:t>“</a:t>
            </a:r>
            <a:r>
              <a:rPr lang="zh-CN" altLang="en-US" sz="1100" dirty="0"/>
              <a:t>生成</a:t>
            </a:r>
            <a:r>
              <a:rPr lang="en-US" altLang="zh-CN" sz="1100" dirty="0"/>
              <a:t> PPT”</a:t>
            </a:r>
            <a:r>
              <a:rPr lang="zh-CN" altLang="en-US" sz="1100" dirty="0"/>
              <a:t>，则进入此分支。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动作</a:t>
            </a:r>
            <a:r>
              <a:rPr lang="en-US" altLang="zh-CN" sz="1100" dirty="0"/>
              <a:t> A</a:t>
            </a:r>
            <a:r>
              <a:rPr lang="zh-CN" altLang="en-US" sz="1100" dirty="0"/>
              <a:t>（选模板）：询问或自动匹配风格（例如：</a:t>
            </a:r>
            <a:r>
              <a:rPr lang="en-US" altLang="zh-CN" sz="1100" dirty="0"/>
              <a:t>“</a:t>
            </a:r>
            <a:r>
              <a:rPr lang="zh-CN" altLang="en-US" sz="1100" dirty="0"/>
              <a:t>这是一个季度汇报，建议使用</a:t>
            </a:r>
            <a:r>
              <a:rPr lang="en-US" altLang="zh-CN" sz="1100" dirty="0"/>
              <a:t>‘</a:t>
            </a:r>
            <a:r>
              <a:rPr lang="zh-CN" altLang="en-US" sz="1100" dirty="0"/>
              <a:t>商务蓝</a:t>
            </a:r>
            <a:r>
              <a:rPr lang="en-US" altLang="zh-CN" sz="1100" dirty="0"/>
              <a:t>’</a:t>
            </a:r>
            <a:r>
              <a:rPr lang="zh-CN" altLang="en-US" sz="1100" dirty="0"/>
              <a:t>模板</a:t>
            </a:r>
            <a:r>
              <a:rPr lang="en-US" altLang="zh-CN" sz="1100" dirty="0"/>
              <a:t>”</a:t>
            </a:r>
            <a:r>
              <a:rPr lang="zh-CN" altLang="en-US" sz="1100" dirty="0"/>
              <a:t>）。调取</a:t>
            </a:r>
            <a:r>
              <a:rPr lang="en-US" altLang="zh-CN" sz="1100" dirty="0"/>
              <a:t> python-pptx </a:t>
            </a:r>
            <a:r>
              <a:rPr lang="zh-CN" altLang="en-US" sz="1100" dirty="0"/>
              <a:t>库，加载对应的</a:t>
            </a:r>
            <a:r>
              <a:rPr lang="en-US" altLang="zh-CN" sz="1100" dirty="0"/>
              <a:t> Slide Master</a:t>
            </a:r>
            <a:r>
              <a:rPr lang="zh-CN" altLang="en-US" sz="1100" dirty="0"/>
              <a:t>（母版）。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动作</a:t>
            </a:r>
            <a:r>
              <a:rPr lang="en-US" altLang="zh-CN" sz="1100" dirty="0"/>
              <a:t> B</a:t>
            </a:r>
            <a:r>
              <a:rPr lang="zh-CN" altLang="en-US" sz="1100" dirty="0"/>
              <a:t>（填内容）：将节点</a:t>
            </a:r>
            <a:r>
              <a:rPr lang="en-US" altLang="zh-CN" sz="1100" dirty="0"/>
              <a:t> 2 </a:t>
            </a:r>
            <a:r>
              <a:rPr lang="zh-CN" altLang="en-US" sz="1100" dirty="0"/>
              <a:t>计算出的结论（观点）作为标题，图表作为配图，详细数据作为备注，自动填充到</a:t>
            </a:r>
            <a:r>
              <a:rPr lang="en-US" altLang="zh-CN" sz="1100" dirty="0"/>
              <a:t> PPT </a:t>
            </a:r>
            <a:r>
              <a:rPr lang="zh-CN" altLang="en-US" sz="1100" dirty="0"/>
              <a:t>页面中。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en-US" altLang="zh-CN" sz="1100" dirty="0"/>
              <a:t>&lt;</a:t>
            </a:r>
            <a:r>
              <a:rPr lang="zh-CN" altLang="en-US" sz="1100" dirty="0"/>
              <a:t>新增</a:t>
            </a:r>
            <a:r>
              <a:rPr lang="en-US" altLang="zh-CN" sz="1100" dirty="0"/>
              <a:t>&gt; </a:t>
            </a:r>
            <a:r>
              <a:rPr lang="zh-CN" altLang="en-US" sz="1100" dirty="0"/>
              <a:t>节点</a:t>
            </a:r>
            <a:r>
              <a:rPr lang="en-US" altLang="zh-CN" sz="1100" dirty="0"/>
              <a:t> 4</a:t>
            </a:r>
            <a:r>
              <a:rPr lang="zh-CN" altLang="en-US" sz="1100" dirty="0"/>
              <a:t>：视觉自查与逻辑通读</a:t>
            </a:r>
            <a:r>
              <a:rPr lang="en-US" altLang="zh-CN" sz="1100" dirty="0"/>
              <a:t> (Visual &amp; Logic Audit)</a:t>
            </a:r>
            <a:endParaRPr lang="en-US" altLang="zh-CN" sz="1100" dirty="0"/>
          </a:p>
          <a:p>
            <a:endParaRPr lang="en-US" altLang="zh-CN" sz="1100" dirty="0"/>
          </a:p>
          <a:p>
            <a:r>
              <a:rPr lang="zh-CN" altLang="en-US" sz="1100" dirty="0"/>
              <a:t>动作（通读检查）：</a:t>
            </a:r>
            <a:r>
              <a:rPr lang="en-US" altLang="zh-CN" sz="1100" dirty="0"/>
              <a:t>Agent </a:t>
            </a:r>
            <a:r>
              <a:rPr lang="zh-CN" altLang="en-US" sz="1100" dirty="0"/>
              <a:t>模拟</a:t>
            </a:r>
            <a:r>
              <a:rPr lang="en-US" altLang="zh-CN" sz="1100" dirty="0"/>
              <a:t>“</a:t>
            </a:r>
            <a:r>
              <a:rPr lang="zh-CN" altLang="en-US" sz="1100" dirty="0"/>
              <a:t>观众</a:t>
            </a:r>
            <a:r>
              <a:rPr lang="en-US" altLang="zh-CN" sz="1100" dirty="0"/>
              <a:t>”</a:t>
            </a:r>
            <a:r>
              <a:rPr lang="zh-CN" altLang="en-US" sz="1100" dirty="0"/>
              <a:t>视角，从头到尾读取生成的</a:t>
            </a:r>
            <a:r>
              <a:rPr lang="en-US" altLang="zh-CN" sz="1100" dirty="0"/>
              <a:t> PPT </a:t>
            </a:r>
            <a:r>
              <a:rPr lang="zh-CN" altLang="en-US" sz="1100" dirty="0"/>
              <a:t>内容。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检查项：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排版校验：文字是否遮挡了图表？字体大小是否统一？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逻辑校验：第</a:t>
            </a:r>
            <a:r>
              <a:rPr lang="en-US" altLang="zh-CN" sz="1100" dirty="0"/>
              <a:t> 3 </a:t>
            </a:r>
            <a:r>
              <a:rPr lang="zh-CN" altLang="en-US" sz="1100" dirty="0"/>
              <a:t>页的数据是否支撑第</a:t>
            </a:r>
            <a:r>
              <a:rPr lang="en-US" altLang="zh-CN" sz="1100" dirty="0"/>
              <a:t> 2 </a:t>
            </a:r>
            <a:r>
              <a:rPr lang="zh-CN" altLang="en-US" sz="1100" dirty="0"/>
              <a:t>页的结论？（前后一致性）。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幻觉校验：是否存在未被定义的</a:t>
            </a:r>
            <a:r>
              <a:rPr lang="en-US" altLang="zh-CN" sz="1100" dirty="0"/>
              <a:t>“</a:t>
            </a:r>
            <a:r>
              <a:rPr lang="zh-CN" altLang="en-US" sz="1100" dirty="0"/>
              <a:t>占位符文本</a:t>
            </a:r>
            <a:r>
              <a:rPr lang="en-US" altLang="zh-CN" sz="1100" dirty="0"/>
              <a:t>”</a:t>
            </a:r>
            <a:r>
              <a:rPr lang="zh-CN" altLang="en-US" sz="1100" dirty="0"/>
              <a:t>（如</a:t>
            </a:r>
            <a:r>
              <a:rPr lang="en-US" altLang="zh-CN" sz="1100" dirty="0"/>
              <a:t> [Insert Data Here]</a:t>
            </a:r>
            <a:r>
              <a:rPr lang="zh-CN" altLang="en-US" sz="1100" dirty="0"/>
              <a:t>）。</a:t>
            </a:r>
            <a:endParaRPr lang="zh-CN" altLang="en-US" sz="1100" dirty="0"/>
          </a:p>
          <a:p>
            <a:endParaRPr lang="en-US" altLang="zh-CN" sz="1100" dirty="0"/>
          </a:p>
          <a:p>
            <a:r>
              <a:rPr lang="zh-CN" altLang="en-US" sz="1100" dirty="0"/>
              <a:t>输出：生成最终</a:t>
            </a:r>
            <a:r>
              <a:rPr lang="en-US" altLang="zh-CN" sz="1100" dirty="0"/>
              <a:t> PPT </a:t>
            </a:r>
            <a:r>
              <a:rPr lang="zh-CN" altLang="en-US" sz="1100" dirty="0"/>
              <a:t>文件，并附带一份《修改建议清单》。</a:t>
            </a:r>
            <a:endParaRPr lang="zh-CN" altLang="en-US" sz="1100" dirty="0"/>
          </a:p>
        </p:txBody>
      </p:sp>
      <p:sp>
        <p:nvSpPr>
          <p:cNvPr id="9" name="AutoShape 5"/>
          <p:cNvSpPr/>
          <p:nvPr/>
        </p:nvSpPr>
        <p:spPr>
          <a:xfrm>
            <a:off x="150495" y="1250948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定义身份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(Role)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2497974" y="1250947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喂入知识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(Knowledge)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6" name="AutoShape 5"/>
          <p:cNvSpPr/>
          <p:nvPr/>
        </p:nvSpPr>
        <p:spPr>
          <a:xfrm>
            <a:off x="4845453" y="1250947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赋予工具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(Capability)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7192931" y="1250946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编排流程</a:t>
            </a:r>
            <a:r>
              <a:rPr lang="en-US" altLang="zh-CN" b="1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(Workflow)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" name="AutoShape 5"/>
          <p:cNvSpPr/>
          <p:nvPr/>
        </p:nvSpPr>
        <p:spPr>
          <a:xfrm>
            <a:off x="9540408" y="2000250"/>
            <a:ext cx="2281268" cy="4382739"/>
          </a:xfrm>
          <a:prstGeom prst="roundRect">
            <a:avLst>
              <a:gd name="adj" fmla="val 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/>
            <a:r>
              <a:rPr lang="zh-CN" altLang="en-US" sz="1200" b="1" dirty="0"/>
              <a:t>正常使用</a:t>
            </a:r>
            <a:endParaRPr lang="zh-CN" altLang="zh-CN" sz="1200" dirty="0"/>
          </a:p>
        </p:txBody>
      </p:sp>
      <p:sp>
        <p:nvSpPr>
          <p:cNvPr id="36" name="AutoShape 5"/>
          <p:cNvSpPr/>
          <p:nvPr/>
        </p:nvSpPr>
        <p:spPr>
          <a:xfrm>
            <a:off x="9540408" y="1250946"/>
            <a:ext cx="2281269" cy="622301"/>
          </a:xfrm>
          <a:prstGeom prst="roundRect">
            <a:avLst>
              <a:gd name="adj" fmla="val 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/>
            <a:r>
              <a:rPr lang="zh-CN" altLang="zh-CN" b="1" dirty="0"/>
              <a:t>调试与演示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825809" y="482600"/>
            <a:ext cx="10160000" cy="346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ok~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你已经学会‘偷懒’了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! </a:t>
            </a:r>
            <a:endParaRPr lang="en-US" altLang="zh-CN" sz="3200" b="1" dirty="0">
              <a:solidFill>
                <a:schemeClr val="tx1"/>
              </a:solidFill>
              <a:latin typeface="+mn-ea"/>
            </a:endParaRPr>
          </a:p>
          <a:p>
            <a:endParaRPr lang="en-US" altLang="zh-CN" sz="3200" b="1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你有时间去思考了：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我们的用户真的需要这个功能吗？</a:t>
            </a:r>
            <a:endParaRPr lang="en-US" altLang="zh-CN" sz="32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3200" b="1" dirty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这个问题，</a:t>
            </a:r>
            <a:r>
              <a:rPr lang="en-US" altLang="zh-CN" sz="3200" b="1" dirty="0">
                <a:solidFill>
                  <a:schemeClr val="tx1"/>
                </a:solidFill>
                <a:latin typeface="+mn-ea"/>
              </a:rPr>
              <a:t>AI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永远无法代替你回答。”</a:t>
            </a:r>
            <a:endParaRPr lang="zh-CN" altLang="en-US" sz="3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25809" y="4767611"/>
            <a:ext cx="10160000" cy="5790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</a:rPr>
              <a:t>培训结束</a:t>
            </a:r>
            <a:r>
              <a:rPr lang="zh-CN" altLang="en-US" sz="32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Noto Sans SC"/>
                <a:ea typeface="Noto Sans SC"/>
              </a:rPr>
              <a:t>谢谢大家</a:t>
            </a:r>
            <a:r>
              <a:rPr lang="en-US" altLang="zh-CN" sz="3200" b="1" dirty="0">
                <a:solidFill>
                  <a:schemeClr val="tx1"/>
                </a:solidFill>
                <a:latin typeface="Noto Sans SC"/>
                <a:ea typeface="Noto Sans SC"/>
              </a:rPr>
              <a:t>!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8112</Words>
  <Application>WPS 演示</Application>
  <PresentationFormat>宽屏</PresentationFormat>
  <Paragraphs>429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Apple Color Emoji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zhang</cp:lastModifiedBy>
  <cp:revision>6</cp:revision>
  <dcterms:created xsi:type="dcterms:W3CDTF">2026-01-28T15:22:10Z</dcterms:created>
  <dcterms:modified xsi:type="dcterms:W3CDTF">2026-01-28T15:22:10Z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63C6ABC90F1EE37676F479691715E2A2_42</vt:lpwstr>
  </property>
  <property fmtid="{D5CDD505-2E9C-101B-9397-08002B2CF9AE}" pid="3" name="KSOProductBuildVer">
    <vt:lpwstr>2052-7.3.1.8967</vt:lpwstr>
  </property>
</Properties>
</file>